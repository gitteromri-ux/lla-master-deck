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2B"/>
        </a:solidFill>
      </p:bgPr>
    </p:bg>
    <p:spTree>
      <p:nvGrpSpPr>
        <p:cNvPr id="1" name=""/>
        <p:cNvGrpSpPr/>
        <p:nvPr/>
      </p:nvGrpSpPr>
      <p:grpSpPr>
        <a:xfrm>
          <a:off x="0" y="0"/>
          <a:ext cx="0" cy="0"/>
          <a:chOff x="0" y="0"/>
          <a:chExt cx="0" cy="0"/>
        </a:xfrm>
      </p:grpSpPr>
      <p:sp>
        <p:nvSpPr>
          <p:cNvPr id="2" name="Text 0"/>
          <p:cNvSpPr/>
          <p:nvPr/>
        </p:nvSpPr>
        <p:spPr>
          <a:xfrm>
            <a:off x="502920" y="1371600"/>
            <a:ext cx="11185855" cy="457200"/>
          </a:xfrm>
          <a:prstGeom prst="rect">
            <a:avLst/>
          </a:prstGeom>
          <a:noFill/>
          <a:ln/>
        </p:spPr>
        <p:txBody>
          <a:bodyPr wrap="square" rtlCol="0" anchor="ctr"/>
          <a:lstStyle/>
          <a:p>
            <a:pPr algn="ctr" indent="0" marL="0">
              <a:buNone/>
            </a:pPr>
            <a:r>
              <a:rPr lang="en-US" sz="1600" spc="300" kern="0" dirty="0">
                <a:solidFill>
                  <a:srgbClr val="8FB8BD"/>
                </a:solidFill>
                <a:latin typeface="Trebuchet MS" pitchFamily="34" charset="0"/>
                <a:ea typeface="Trebuchet MS" pitchFamily="34" charset="-122"/>
                <a:cs typeface="Trebuchet MS" pitchFamily="34" charset="-120"/>
              </a:rPr>
              <a:t>ETEACHER GROUP  ·  LONGEVITY LIFE ACADEMY</a:t>
            </a:r>
            <a:endParaRPr lang="en-US" sz="1600" dirty="0"/>
          </a:p>
        </p:txBody>
      </p:sp>
      <p:sp>
        <p:nvSpPr>
          <p:cNvPr id="3" name="Text 1"/>
          <p:cNvSpPr/>
          <p:nvPr/>
        </p:nvSpPr>
        <p:spPr>
          <a:xfrm>
            <a:off x="502920" y="2103120"/>
            <a:ext cx="11185855" cy="1097280"/>
          </a:xfrm>
          <a:prstGeom prst="rect">
            <a:avLst/>
          </a:prstGeom>
          <a:noFill/>
          <a:ln/>
        </p:spPr>
        <p:txBody>
          <a:bodyPr wrap="square" rtlCol="0" anchor="ctr"/>
          <a:lstStyle/>
          <a:p>
            <a:pPr algn="ctr" indent="0" marL="0">
              <a:buNone/>
            </a:pPr>
            <a:r>
              <a:rPr lang="en-US" sz="4600" b="1" dirty="0">
                <a:solidFill>
                  <a:srgbClr val="FFFFFF"/>
                </a:solidFill>
                <a:latin typeface="Georgia" pitchFamily="34" charset="0"/>
                <a:ea typeface="Georgia" pitchFamily="34" charset="-122"/>
                <a:cs typeface="Georgia" pitchFamily="34" charset="-120"/>
              </a:rPr>
              <a:t>LLA Press Release Master Deck</a:t>
            </a:r>
            <a:endParaRPr lang="en-US" sz="4600" dirty="0"/>
          </a:p>
        </p:txBody>
      </p:sp>
      <p:sp>
        <p:nvSpPr>
          <p:cNvPr id="4" name="Text 2"/>
          <p:cNvSpPr/>
          <p:nvPr/>
        </p:nvSpPr>
        <p:spPr>
          <a:xfrm>
            <a:off x="1463040" y="3383280"/>
            <a:ext cx="9265615" cy="822960"/>
          </a:xfrm>
          <a:prstGeom prst="rect">
            <a:avLst/>
          </a:prstGeom>
          <a:noFill/>
          <a:ln/>
        </p:spPr>
        <p:txBody>
          <a:bodyPr wrap="square" rtlCol="0" anchor="ctr"/>
          <a:lstStyle/>
          <a:p>
            <a:pPr algn="ctr" indent="0" marL="0">
              <a:buNone/>
            </a:pPr>
            <a:r>
              <a:rPr lang="en-US" sz="1800" dirty="0">
                <a:solidFill>
                  <a:srgbClr val="C7D3D5"/>
                </a:solidFill>
                <a:latin typeface="Calibri" pitchFamily="34" charset="0"/>
                <a:ea typeface="Calibri" pitchFamily="34" charset="-122"/>
                <a:cs typeface="Calibri" pitchFamily="34" charset="-120"/>
              </a:rPr>
              <a:t>Every article, word-for-word — the 3 final approved releases live today, plus the requested slides from both source decks.</a:t>
            </a:r>
            <a:endParaRPr lang="en-US" sz="1800" dirty="0"/>
          </a:p>
        </p:txBody>
      </p:sp>
      <p:sp>
        <p:nvSpPr>
          <p:cNvPr id="5" name="Text 3"/>
          <p:cNvSpPr/>
          <p:nvPr/>
        </p:nvSpPr>
        <p:spPr>
          <a:xfrm>
            <a:off x="502920" y="5120640"/>
            <a:ext cx="11185855" cy="365760"/>
          </a:xfrm>
          <a:prstGeom prst="rect">
            <a:avLst/>
          </a:prstGeom>
          <a:noFill/>
          <a:ln/>
        </p:spPr>
        <p:txBody>
          <a:bodyPr wrap="square" rtlCol="0" anchor="ctr"/>
          <a:lstStyle/>
          <a:p>
            <a:pPr algn="ctr" indent="0" marL="0">
              <a:buNone/>
            </a:pPr>
            <a:r>
              <a:rPr lang="en-US" sz="1400" dirty="0">
                <a:solidFill>
                  <a:srgbClr val="8FB8BD"/>
                </a:solidFill>
                <a:latin typeface="Calibri" pitchFamily="34" charset="0"/>
                <a:ea typeface="Calibri" pitchFamily="34" charset="-122"/>
                <a:cs typeface="Calibri" pitchFamily="34" charset="-120"/>
              </a:rPr>
              <a:t>Prepared for: Harel Tayeb, CEO, eTeacher Group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5A63"/>
        </a:solidFill>
      </p:bgPr>
    </p:bg>
    <p:spTree>
      <p:nvGrpSpPr>
        <p:cNvPr id="1" name=""/>
        <p:cNvGrpSpPr/>
        <p:nvPr/>
      </p:nvGrpSpPr>
      <p:grpSpPr>
        <a:xfrm>
          <a:off x="0" y="0"/>
          <a:ext cx="0" cy="0"/>
          <a:chOff x="0" y="0"/>
          <a:chExt cx="0" cy="0"/>
        </a:xfrm>
      </p:grpSpPr>
      <p:sp>
        <p:nvSpPr>
          <p:cNvPr id="2" name="Shape 0"/>
          <p:cNvSpPr/>
          <p:nvPr/>
        </p:nvSpPr>
        <p:spPr>
          <a:xfrm>
            <a:off x="0" y="2788920"/>
            <a:ext cx="12191695" cy="27432"/>
          </a:xfrm>
          <a:prstGeom prst="rect">
            <a:avLst/>
          </a:prstGeom>
          <a:solidFill>
            <a:srgbClr val="8FB8BD"/>
          </a:solidFill>
          <a:ln/>
        </p:spPr>
      </p:sp>
      <p:sp>
        <p:nvSpPr>
          <p:cNvPr id="3" name="Text 1"/>
          <p:cNvSpPr/>
          <p:nvPr/>
        </p:nvSpPr>
        <p:spPr>
          <a:xfrm>
            <a:off x="914400" y="1828800"/>
            <a:ext cx="10362895" cy="2011680"/>
          </a:xfrm>
          <a:prstGeom prst="rect">
            <a:avLst/>
          </a:prstGeom>
          <a:noFill/>
          <a:ln/>
        </p:spPr>
        <p:txBody>
          <a:bodyPr wrap="square"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PART 1 — FINAL APPROVED ARTICLES (LIVE TODAY)</a:t>
            </a:r>
            <a:endParaRPr lang="en-US" sz="3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FINAL · ARTICLE 1 — FLAGSHIP  (1/3)</a:t>
            </a:r>
            <a:endParaRPr lang="en-US" sz="1250" dirty="0"/>
          </a:p>
        </p:txBody>
      </p:sp>
      <p:sp>
        <p:nvSpPr>
          <p:cNvPr id="4" name="Text 2"/>
          <p:cNvSpPr/>
          <p:nvPr/>
        </p:nvSpPr>
        <p:spPr>
          <a:xfrm>
            <a:off x="502920" y="694944"/>
            <a:ext cx="11185855" cy="755904"/>
          </a:xfrm>
          <a:prstGeom prst="rect">
            <a:avLst/>
          </a:prstGeom>
          <a:noFill/>
          <a:ln/>
        </p:spPr>
        <p:txBody>
          <a:bodyPr wrap="square" rtlCol="0" anchor="ctr"/>
          <a:lstStyle/>
          <a:p>
            <a:pPr indent="0" marL="0">
              <a:lnSpc>
                <a:spcPct val="102000"/>
              </a:lnSpc>
              <a:buNone/>
            </a:pPr>
            <a:r>
              <a:rPr lang="en-US" sz="2400" b="1" dirty="0">
                <a:solidFill>
                  <a:srgbClr val="13212B"/>
                </a:solidFill>
                <a:latin typeface="Georgia" pitchFamily="34" charset="0"/>
                <a:ea typeface="Georgia" pitchFamily="34" charset="-122"/>
                <a:cs typeface="Georgia" pitchFamily="34" charset="-120"/>
              </a:rPr>
              <a:t>eTeacher Group Launches Longevity Life Academy to Teach the Longevity Protocol the Wealthy Pay Millions For</a:t>
            </a:r>
            <a:endParaRPr lang="en-US" sz="2400" dirty="0"/>
          </a:p>
        </p:txBody>
      </p:sp>
      <p:sp>
        <p:nvSpPr>
          <p:cNvPr id="5" name="Text 3"/>
          <p:cNvSpPr/>
          <p:nvPr/>
        </p:nvSpPr>
        <p:spPr>
          <a:xfrm>
            <a:off x="502920" y="1469136"/>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eTeacher Group opens its sixth online school, Longevity Life Academy, bringing science-backed healthy aging to American households through globally certified longevity instructors and the company's proprietary advanced learning platform.</a:t>
            </a:r>
            <a:endParaRPr lang="en-US" sz="1400" dirty="0"/>
          </a:p>
        </p:txBody>
      </p:sp>
      <p:sp>
        <p:nvSpPr>
          <p:cNvPr id="6" name="Shape 4"/>
          <p:cNvSpPr/>
          <p:nvPr/>
        </p:nvSpPr>
        <p:spPr>
          <a:xfrm>
            <a:off x="502920" y="2005584"/>
            <a:ext cx="11185855" cy="0"/>
          </a:xfrm>
          <a:prstGeom prst="line">
            <a:avLst/>
          </a:prstGeom>
          <a:noFill/>
          <a:ln w="12700">
            <a:solidFill>
              <a:srgbClr val="D7DAD5"/>
            </a:solidFill>
            <a:prstDash val="solid"/>
          </a:ln>
        </p:spPr>
      </p:sp>
      <p:sp>
        <p:nvSpPr>
          <p:cNvPr id="7" name="Text 5"/>
          <p:cNvSpPr/>
          <p:nvPr/>
        </p:nvSpPr>
        <p:spPr>
          <a:xfrm>
            <a:off x="502920" y="2151888"/>
            <a:ext cx="11185855" cy="33528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FOR IMMEDIATE RELEASE</a:t>
            </a:r>
            <a:endParaRPr lang="en-US" sz="1500" dirty="0"/>
          </a:p>
        </p:txBody>
      </p:sp>
      <p:sp>
        <p:nvSpPr>
          <p:cNvPr id="8" name="Text 6"/>
          <p:cNvSpPr/>
          <p:nvPr/>
        </p:nvSpPr>
        <p:spPr>
          <a:xfrm>
            <a:off x="502920" y="2487168"/>
            <a:ext cx="11185855" cy="106680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eTeacher Group, one of the world's longest-running online-education companies, today announced Longevity Life Academy (LLA), its sixth proprietary online school and its first dedicated to healthy aging. LLA is built on a simple belief: everyone deserves a science-backed protocol for a longer, healthier life, delivered as a guided protocol built around your biology, your numbers, and the daily practice that turns the next decades into your strongest.</a:t>
            </a:r>
            <a:endParaRPr lang="en-US" sz="1500" dirty="0"/>
          </a:p>
        </p:txBody>
      </p:sp>
      <p:sp>
        <p:nvSpPr>
          <p:cNvPr id="9" name="Text 7"/>
          <p:cNvSpPr/>
          <p:nvPr/>
        </p:nvSpPr>
        <p:spPr>
          <a:xfrm>
            <a:off x="502920" y="3553968"/>
            <a:ext cx="11185855" cy="131064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A $8 Trillion Market, One Underserved Household — UBS projects the longevity market will reach roughly $8 trillion by 2030, up from $5.3 trillion in 2023. Today that spending flows to two extremes: concierge clinics that cost a fortune and unvetted advice that few people sustain. Longevity Life Academy is built for the mainstream American family in between, the household that wants rigorous, data-backed guidance and a structure that helps them stay with it. eTeacher enters from a position of strength, with more than 10,000 learners a year and roughly 70% of its customers already in the United States.</a:t>
            </a:r>
            <a:endParaRPr lang="en-US" sz="1500" dirty="0"/>
          </a:p>
        </p:txBody>
      </p:sp>
      <p:sp>
        <p:nvSpPr>
          <p:cNvPr id="10" name="Text 8"/>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1" name="Text 9"/>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FINAL · ARTICLE 1 — FLAGSHIP  (cont. 2/3)</a:t>
            </a:r>
            <a:endParaRPr lang="en-US" sz="1250" dirty="0"/>
          </a:p>
        </p:txBody>
      </p:sp>
      <p:sp>
        <p:nvSpPr>
          <p:cNvPr id="4" name="Text 2"/>
          <p:cNvSpPr/>
          <p:nvPr/>
        </p:nvSpPr>
        <p:spPr>
          <a:xfrm>
            <a:off x="502920" y="841248"/>
            <a:ext cx="11185855" cy="17983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Taught by Globally Certified Longevity Instructors — Longevity Life Academy is taught live by a faculty of globally certified longevity instructors, practitioners and researchers who lead every cohort in real time rather than leaving students to self-study. Instruction includes named faculty such as researcher Natalie Blackbourne, University of California, Santa Barbara senior lecturer Amy Jamieson, and founding faculty member Julie Gibson Clark, who held the number two spot on the Rejuvenation Olympics leaderboard for more than a year, ahead of the contest's own founder Bryan Johnson. Every student learns in a small live cohort of 8 to 15, with an instructor who knows them by name, so guidance is personal, credentialed, and accountable from the first session.</a:t>
            </a:r>
            <a:endParaRPr lang="en-US" sz="1500" dirty="0"/>
          </a:p>
        </p:txBody>
      </p:sp>
      <p:sp>
        <p:nvSpPr>
          <p:cNvPr id="5" name="Text 3"/>
          <p:cNvSpPr/>
          <p:nvPr/>
        </p:nvSpPr>
        <p:spPr>
          <a:xfrm>
            <a:off x="502920" y="2639568"/>
            <a:ext cx="11185855" cy="155448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Built on eTeacher's Proprietary Advanced Learning Platform — The school runs on eTeacher's proprietary advanced learning management system, the same technology-enabled platform that powers the company's academic schools and has been refined over decades of live teaching. Live classes, lesson recordings, guided daily practice, a community forum, resources, and individual progress tracking all sit behind a single login. This proprietary infrastructure, small live cohorts paired with a purpose-built LMS engineered for engagement and completion, is what allows an ordinary student to not only start the program but finish it and keep the results.</a:t>
            </a:r>
            <a:endParaRPr lang="en-US" sz="1500" dirty="0"/>
          </a:p>
        </p:txBody>
      </p:sp>
      <p:sp>
        <p:nvSpPr>
          <p:cNvPr id="6" name="Text 4"/>
          <p:cNvSpPr/>
          <p:nvPr/>
        </p:nvSpPr>
        <p:spPr>
          <a:xfrm>
            <a:off x="502920" y="4194048"/>
            <a:ext cx="11185855" cy="20421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A Personalized Protocol From Your Own Data, Not Generic Advice — The flagship program, The Longevity Blueprint, does not hand students a textbook. It builds each student a personalized, data-backed protocol from their own biology. Every US student receives an Abbott Lingo continuous glucose monitor, shipped to their home before the CGM module in Lesson 5, so decisions are driven by their own biomarker data rather than generic rules. Over 18 weeks and 18 live sessions across four phases, 50 minutes weekly in cohorts of 8 to 15, students move from foundation to a written, personalized plan tested against their own body across six pillars: Nutrition, Sleep, Exercise and Movement, Supplements and Wearables, Stress Management, and a personal Longevity Protocol. The Lingo biosensor is a 14-day, painless device available without a prescription and FSA/HSA-eligible; it is intended for adults 18 and over, is not for people who use insulin, and is not a diagnostic tool.</a:t>
            </a:r>
            <a:endParaRPr lang="en-US" sz="1500" dirty="0"/>
          </a:p>
        </p:txBody>
      </p:sp>
      <p:sp>
        <p:nvSpPr>
          <p:cNvPr id="7" name="Text 5"/>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8" name="Text 6"/>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FINAL · ARTICLE 1 — FLAGSHIP  (cont. 3/3)</a:t>
            </a:r>
            <a:endParaRPr lang="en-US" sz="1250" dirty="0"/>
          </a:p>
        </p:txBody>
      </p:sp>
      <p:sp>
        <p:nvSpPr>
          <p:cNvPr id="4" name="Text 2"/>
          <p:cNvSpPr/>
          <p:nvPr/>
        </p:nvSpPr>
        <p:spPr>
          <a:xfrm>
            <a:off x="502920" y="841248"/>
            <a:ext cx="11185855" cy="155448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Designed for Accessibility and Follow-Through — Accessibility is the design goal, not an afterthought. The structure is deliberately human-scale: a weekly 50-minute live session, then short daily practices between classes, small enough to fit a working parent's schedule and specific enough to build momentum. The cohort becomes a support group as much as a classroom, the element the company credits for turning intentions into routines that outlast the course. The Longevity Blueprint is enrolling now from $289 per month, a fraction of concierge longevity programs. eTeacher says additional longevity courses and a companion practice app are on its roadmap for the year ahead.</a:t>
            </a:r>
            <a:endParaRPr lang="en-US" sz="1500" dirty="0"/>
          </a:p>
        </p:txBody>
      </p:sp>
      <p:sp>
        <p:nvSpPr>
          <p:cNvPr id="5" name="Text 3"/>
          <p:cNvSpPr/>
          <p:nvPr/>
        </p:nvSpPr>
        <p:spPr>
          <a:xfrm>
            <a:off x="502920" y="2395728"/>
            <a:ext cx="11185855" cy="106680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"We believe we can bring the world of longevity into every household in the United States and raise healthspan globally. Our whole mission is to democratize what used to be a luxury. A healthy life was never something you could buy in bulk, it is built one taught, repeated habit at a time, and that is something we can put within reach of an ordinary family," said Harel Tayeb, CEO of eTeacher Group.</a:t>
            </a:r>
            <a:endParaRPr lang="en-US" sz="1500" dirty="0"/>
          </a:p>
        </p:txBody>
      </p:sp>
      <p:sp>
        <p:nvSpPr>
          <p:cNvPr id="6" name="Text 4"/>
          <p:cNvSpPr/>
          <p:nvPr/>
        </p:nvSpPr>
        <p:spPr>
          <a:xfrm>
            <a:off x="502920" y="3462528"/>
            <a:ext cx="11185855" cy="131064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About eTeacher Group — eTeacher Group is one of the world's longest-running online-education companies, delivering live, teacher-led courses to more than 10,000 learners a year, with 400,000+ courses completed across nearly 200 countries. It operates proprietary online schools supported by an advanced, technology-enabled learning platform, and roughly 70% of its customers are in the United States. Longevity Life Academy is its sixth online school. Learn more at https://www.longevitylifeacademy.com/</a:t>
            </a:r>
            <a:endParaRPr lang="en-US" sz="1500" dirty="0"/>
          </a:p>
        </p:txBody>
      </p:sp>
      <p:sp>
        <p:nvSpPr>
          <p:cNvPr id="7" name="Text 5"/>
          <p:cNvSpPr/>
          <p:nvPr/>
        </p:nvSpPr>
        <p:spPr>
          <a:xfrm>
            <a:off x="502920" y="4773168"/>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MEDIA CONTACT: Harel Tayeb, CEO, eTeacher Group · omri.gitter@eteachergroup.com · +1-888-230-5110 · https://www.longevitylifeacademy.com/</a:t>
            </a:r>
            <a:endParaRPr lang="en-US" sz="1500" dirty="0"/>
          </a:p>
        </p:txBody>
      </p:sp>
      <p:sp>
        <p:nvSpPr>
          <p:cNvPr id="8" name="Text 6"/>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9" name="Text 7"/>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FINAL · ARTICLE 2 — BUSINESS ANGLE  (1/3)</a:t>
            </a:r>
            <a:endParaRPr lang="en-US" sz="1250" dirty="0"/>
          </a:p>
        </p:txBody>
      </p:sp>
      <p:sp>
        <p:nvSpPr>
          <p:cNvPr id="4" name="Text 2"/>
          <p:cNvSpPr/>
          <p:nvPr/>
        </p:nvSpPr>
        <p:spPr>
          <a:xfrm>
            <a:off x="502920" y="694944"/>
            <a:ext cx="11185855" cy="755904"/>
          </a:xfrm>
          <a:prstGeom prst="rect">
            <a:avLst/>
          </a:prstGeom>
          <a:noFill/>
          <a:ln/>
        </p:spPr>
        <p:txBody>
          <a:bodyPr wrap="square" rtlCol="0" anchor="ctr"/>
          <a:lstStyle/>
          <a:p>
            <a:pPr indent="0" marL="0">
              <a:lnSpc>
                <a:spcPct val="102000"/>
              </a:lnSpc>
              <a:buNone/>
            </a:pPr>
            <a:r>
              <a:rPr lang="en-US" sz="2400" b="1" dirty="0">
                <a:solidFill>
                  <a:srgbClr val="13212B"/>
                </a:solidFill>
                <a:latin typeface="Georgia" pitchFamily="34" charset="0"/>
                <a:ea typeface="Georgia" pitchFamily="34" charset="-122"/>
                <a:cs typeface="Georgia" pitchFamily="34" charset="-120"/>
              </a:rPr>
              <a:t>eTeacher Group Launches Longevity Life Academy to Open the $8 Trillion Longevity Market to Everyday Americans</a:t>
            </a:r>
            <a:endParaRPr lang="en-US" sz="2400" dirty="0"/>
          </a:p>
        </p:txBody>
      </p:sp>
      <p:sp>
        <p:nvSpPr>
          <p:cNvPr id="5" name="Text 3"/>
          <p:cNvSpPr/>
          <p:nvPr/>
        </p:nvSpPr>
        <p:spPr>
          <a:xfrm>
            <a:off x="502920" y="1469136"/>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Between $2-million concierge clinics and free, unverified advice sits the mainstream American household no one serves well. eTeacher's edge isn't a lower price — it's a global-leading teaching engine now brought to healthspan, from $289 a month.</a:t>
            </a:r>
            <a:endParaRPr lang="en-US" sz="1400" dirty="0"/>
          </a:p>
        </p:txBody>
      </p:sp>
      <p:sp>
        <p:nvSpPr>
          <p:cNvPr id="6" name="Shape 4"/>
          <p:cNvSpPr/>
          <p:nvPr/>
        </p:nvSpPr>
        <p:spPr>
          <a:xfrm>
            <a:off x="502920" y="2005584"/>
            <a:ext cx="11185855" cy="0"/>
          </a:xfrm>
          <a:prstGeom prst="line">
            <a:avLst/>
          </a:prstGeom>
          <a:noFill/>
          <a:ln w="12700">
            <a:solidFill>
              <a:srgbClr val="D7DAD5"/>
            </a:solidFill>
            <a:prstDash val="solid"/>
          </a:ln>
        </p:spPr>
      </p:sp>
      <p:sp>
        <p:nvSpPr>
          <p:cNvPr id="7" name="Text 5"/>
          <p:cNvSpPr/>
          <p:nvPr/>
        </p:nvSpPr>
        <p:spPr>
          <a:xfrm>
            <a:off x="502920" y="2151888"/>
            <a:ext cx="11185855" cy="106680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FOR IMMEDIATE RELEASE — eTeacher Group, a global leader in online education, is entering one of consumer health's fastest-growing categories, launching Longevity Life Academy, its sixth proprietary online school, to occupy a gap its CEO argues no one serves well: the space between expensive concierge clinics and free, unverified online advice. The gap isn't only between $2-million clinics and free advice, it's between information and follow-through.</a:t>
            </a:r>
            <a:endParaRPr lang="en-US" sz="1500" dirty="0"/>
          </a:p>
        </p:txBody>
      </p:sp>
      <p:sp>
        <p:nvSpPr>
          <p:cNvPr id="8" name="Text 6"/>
          <p:cNvSpPr/>
          <p:nvPr/>
        </p:nvSpPr>
        <p:spPr>
          <a:xfrm>
            <a:off x="502920" y="3218688"/>
            <a:ext cx="11185855" cy="131064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opportunity is large and split. UBS values the longevity market at $5.3 trillion in 2023, rising toward $8 trillion by 2030, while the narrower healthspan-product market is estimated at $25 billion-plus today, growing toward roughly $63 billion by 2035, per Market Research Future. Yet rigor, engagement, and accessibility rarely coexist in one offering. The clinics have rigor but no reach; the feeds have reach but no rigor; and neither solves the problem that defeats most consumers, staying with a program long enough for it to work.</a:t>
            </a:r>
            <a:endParaRPr lang="en-US" sz="1500" dirty="0"/>
          </a:p>
        </p:txBody>
      </p:sp>
      <p:sp>
        <p:nvSpPr>
          <p:cNvPr id="9" name="Text 7"/>
          <p:cNvSpPr/>
          <p:nvPr/>
        </p:nvSpPr>
        <p:spPr>
          <a:xfrm>
            <a:off x="502920" y="4529328"/>
            <a:ext cx="11185855" cy="131064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eTeacher's real advantage is one rivals would take years to build: a teaching method proven to make learning stick. It has delivered 400,000+ courses across nearly 200 countries using live experts in small cohorts, guided daily practice, and a community that drives completion, with roughly 70% of its customers already in the US and a proven billing and retention engine behind it. That combination of live instruction, engagement, and dependable operations is difficult to assemble and rarer still in consumer health, where churn is the industry's defining weakness.</a:t>
            </a:r>
            <a:endParaRPr lang="en-US" sz="1500" dirty="0"/>
          </a:p>
        </p:txBody>
      </p:sp>
      <p:sp>
        <p:nvSpPr>
          <p:cNvPr id="10" name="Text 8"/>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1" name="Text 9"/>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FINAL · ARTICLE 2 — BUSINESS ANGLE  (cont. 2/3)</a:t>
            </a:r>
            <a:endParaRPr lang="en-US" sz="1250" dirty="0"/>
          </a:p>
        </p:txBody>
      </p:sp>
      <p:sp>
        <p:nvSpPr>
          <p:cNvPr id="4" name="Text 2"/>
          <p:cNvSpPr/>
          <p:nvPr/>
        </p:nvSpPr>
        <p:spPr>
          <a:xfrm>
            <a:off x="502920" y="841248"/>
            <a:ext cx="11185855" cy="252984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Its flagship program, the Longevity Blueprint, applies that method to healthspan. Delivered entirely online, it runs 18 weeks and 18 live sessions across four phases, with cohorts of 8 to 15 students moving from foundational principles to a written, personalized protocol spanning six pillars: Nutrition, Sleep, Exercise and Movement, Supplements and Wearables, Stress Management, and an individual Longevity Protocol. Each student receives an Abbott Lingo continuous glucose monitor, shipped to their US home before Lesson 5, so the curriculum is anchored in their own biomarker data rather than generic advice. Instruction comes from globally certified longevity instructors, including founding faculty member Julie Gibson Clark, who held the number two spot on the Rejuvenation Olympics leaderboard for more than a year, ahead of the contest's own founder Bryan Johnson. Everything is delivered through eTeacher's proprietary advanced learning management system, live classes, lesson recordings, daily practice, a community forum, and progress tracking in one platform, the same infrastructure behind the company's academic online schools.</a:t>
            </a:r>
            <a:endParaRPr lang="en-US" sz="1500" dirty="0"/>
          </a:p>
        </p:txBody>
      </p:sp>
      <p:sp>
        <p:nvSpPr>
          <p:cNvPr id="5" name="Text 3"/>
          <p:cNvSpPr/>
          <p:nvPr/>
        </p:nvSpPr>
        <p:spPr>
          <a:xfrm>
            <a:off x="502920" y="3371088"/>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Pricing starts at $289 per month, a fraction of concierge longevity programs that can run into six or seven figures. But eTeacher frames accessibility as more than affordability: the design goal is completion. A program an ordinary household can start, finish, and sustain is, in the company's view, the only kind that actually raises healthspan at scale.</a:t>
            </a:r>
            <a:endParaRPr lang="en-US" sz="1500" dirty="0"/>
          </a:p>
        </p:txBody>
      </p:sp>
      <p:sp>
        <p:nvSpPr>
          <p:cNvPr id="6" name="Text 4"/>
          <p:cNvSpPr/>
          <p:nvPr/>
        </p:nvSpPr>
        <p:spPr>
          <a:xfrm>
            <a:off x="502920" y="4194048"/>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eTeacher plans to broaden the catalog with additional longevity courses over the coming year and to add a companion practice app, deepening its position in the mainstream tier of a market it believes is still waiting for a credible middle.</a:t>
            </a:r>
            <a:endParaRPr lang="en-US" sz="1500" dirty="0"/>
          </a:p>
        </p:txBody>
      </p:sp>
      <p:sp>
        <p:nvSpPr>
          <p:cNvPr id="7" name="Text 5"/>
          <p:cNvSpPr/>
          <p:nvPr/>
        </p:nvSpPr>
        <p:spPr>
          <a:xfrm>
            <a:off x="502920" y="4773168"/>
            <a:ext cx="11185855" cy="106680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"Longevity is where our vision meets the largest consumer opportunity of our time. The billionaires can afford to experiment. Our job is to take what is proven, teach it live, and make it something a working family can actually follow. That is why we put a real teacher in the room, you can experiment alone, or you can be taught, supported, and expected back. We built our whole school on the second one," said Harel Tayeb, CEO of eTeacher Group.</a:t>
            </a:r>
            <a:endParaRPr lang="en-US" sz="1500" dirty="0"/>
          </a:p>
        </p:txBody>
      </p:sp>
      <p:sp>
        <p:nvSpPr>
          <p:cNvPr id="8" name="Text 6"/>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9" name="Text 7"/>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FINAL · ARTICLE 2 — BUSINESS ANGLE  (cont. 3/3)</a:t>
            </a:r>
            <a:endParaRPr lang="en-US" sz="1250" dirty="0"/>
          </a:p>
        </p:txBody>
      </p:sp>
      <p:sp>
        <p:nvSpPr>
          <p:cNvPr id="4" name="Text 2"/>
          <p:cNvSpPr/>
          <p:nvPr/>
        </p:nvSpPr>
        <p:spPr>
          <a:xfrm>
            <a:off x="502920" y="841248"/>
            <a:ext cx="11185855" cy="131064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About eTeacher Group — eTeacher Group is one of the world's longest-running online-education companies, delivering live, teacher-led courses to more than 10,000 learners a year, with 400,000+ courses completed across nearly 200 countries. It operates proprietary online schools supported by an advanced, technology-enabled learning platform, and roughly 70% of its customers are in the United States. Longevity Life Academy is its sixth online school. Learn more at https://www.longevitylifeacademy.com/</a:t>
            </a:r>
            <a:endParaRPr lang="en-US" sz="1500" dirty="0"/>
          </a:p>
        </p:txBody>
      </p:sp>
      <p:sp>
        <p:nvSpPr>
          <p:cNvPr id="5" name="Text 3"/>
          <p:cNvSpPr/>
          <p:nvPr/>
        </p:nvSpPr>
        <p:spPr>
          <a:xfrm>
            <a:off x="502920" y="2151888"/>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MEDIA CONTACT: Harel Tayeb, CEO, eTeacher Group · omri.gitter@eteachergroup.com · +1-888-230-5110 · https://www.longevitylifeacademy.com/</a:t>
            </a:r>
            <a:endParaRPr lang="en-US" sz="1500" dirty="0"/>
          </a:p>
        </p:txBody>
      </p:sp>
      <p:sp>
        <p:nvSpPr>
          <p:cNvPr id="6" name="Text 4"/>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7" name="Text 5"/>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FINAL · ARTICLE 3 — CONSUMER / FAMILIES  (1/3)</a:t>
            </a:r>
            <a:endParaRPr lang="en-US" sz="1250" dirty="0"/>
          </a:p>
        </p:txBody>
      </p:sp>
      <p:sp>
        <p:nvSpPr>
          <p:cNvPr id="4" name="Text 2"/>
          <p:cNvSpPr/>
          <p:nvPr/>
        </p:nvSpPr>
        <p:spPr>
          <a:xfrm>
            <a:off x="502920" y="694944"/>
            <a:ext cx="11185855" cy="755904"/>
          </a:xfrm>
          <a:prstGeom prst="rect">
            <a:avLst/>
          </a:prstGeom>
          <a:noFill/>
          <a:ln/>
        </p:spPr>
        <p:txBody>
          <a:bodyPr wrap="square" rtlCol="0" anchor="ctr"/>
          <a:lstStyle/>
          <a:p>
            <a:pPr indent="0" marL="0">
              <a:lnSpc>
                <a:spcPct val="102000"/>
              </a:lnSpc>
              <a:buNone/>
            </a:pPr>
            <a:r>
              <a:rPr lang="en-US" sz="2400" b="1" dirty="0">
                <a:solidFill>
                  <a:srgbClr val="13212B"/>
                </a:solidFill>
                <a:latin typeface="Georgia" pitchFamily="34" charset="0"/>
                <a:ea typeface="Georgia" pitchFamily="34" charset="-122"/>
                <a:cs typeface="Georgia" pitchFamily="34" charset="-120"/>
              </a:rPr>
              <a:t>eTeacher Group Launches Longevity Life Academy: Science-Backed Longevity, Built on Your Numbers</a:t>
            </a:r>
            <a:endParaRPr lang="en-US" sz="2400" dirty="0"/>
          </a:p>
        </p:txBody>
      </p:sp>
      <p:sp>
        <p:nvSpPr>
          <p:cNvPr id="5" name="Text 3"/>
          <p:cNvSpPr/>
          <p:nvPr/>
        </p:nvSpPr>
        <p:spPr>
          <a:xfrm>
            <a:off x="502920" y="1469136"/>
            <a:ext cx="11185855" cy="69494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The global online-education leader opens its sixth online school, a full academy for healthy aging taught live on its proprietary platform, making world-class longevity accessible: real teachers, a small class, a supportive community, and an Abbott Lingo glucose monitor included.</a:t>
            </a:r>
            <a:endParaRPr lang="en-US" sz="1400" dirty="0"/>
          </a:p>
        </p:txBody>
      </p:sp>
      <p:sp>
        <p:nvSpPr>
          <p:cNvPr id="6" name="Shape 4"/>
          <p:cNvSpPr/>
          <p:nvPr/>
        </p:nvSpPr>
        <p:spPr>
          <a:xfrm>
            <a:off x="502920" y="2218944"/>
            <a:ext cx="11185855" cy="0"/>
          </a:xfrm>
          <a:prstGeom prst="line">
            <a:avLst/>
          </a:prstGeom>
          <a:noFill/>
          <a:ln w="12700">
            <a:solidFill>
              <a:srgbClr val="D7DAD5"/>
            </a:solidFill>
            <a:prstDash val="solid"/>
          </a:ln>
        </p:spPr>
      </p:sp>
      <p:sp>
        <p:nvSpPr>
          <p:cNvPr id="7" name="Text 5"/>
          <p:cNvSpPr/>
          <p:nvPr/>
        </p:nvSpPr>
        <p:spPr>
          <a:xfrm>
            <a:off x="502920" y="2365248"/>
            <a:ext cx="11185855" cy="106680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FOR IMMEDIATE RELEASE — Longevity has a reputation for being expensive, intimidating, and impossible to stick with. Longevity Life Academy, the new sixth school from global education leader eTeacher Group, is built to be the opposite: a guided protocol built around your own biology and your own numbers, taught live in groups of 8 to 15 by experts who know your name, with a community that makes the habits last.</a:t>
            </a:r>
            <a:endParaRPr lang="en-US" sz="1500" dirty="0"/>
          </a:p>
        </p:txBody>
      </p:sp>
      <p:sp>
        <p:nvSpPr>
          <p:cNvPr id="8" name="Text 6"/>
          <p:cNvSpPr/>
          <p:nvPr/>
        </p:nvSpPr>
        <p:spPr>
          <a:xfrm>
            <a:off x="502920" y="3432048"/>
            <a:ext cx="11185855" cy="106680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Accessibility here is about more than cost. As the longevity market races toward $8 trillion by 2030 (UBS), its highest-profile figures spend fortunes chasing extra years, yet most people who try to follow along quit within weeks. LLA's answer is method, not money: the same live, community-driven approach that helped hundreds of thousands of eTeacher learners finish what they started, now aimed at healthy aging. Tuition starts from $289 per month.</a:t>
            </a:r>
            <a:endParaRPr lang="en-US" sz="1500" dirty="0"/>
          </a:p>
        </p:txBody>
      </p:sp>
      <p:sp>
        <p:nvSpPr>
          <p:cNvPr id="9" name="Text 7"/>
          <p:cNvSpPr/>
          <p:nvPr/>
        </p:nvSpPr>
        <p:spPr>
          <a:xfrm>
            <a:off x="502920" y="4498848"/>
            <a:ext cx="11185855" cy="155448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Instead of memorizing facts about glucose or sleep, students watch those numbers move in their own bodies. Every US student receives an Abbott Lingo continuous glucose monitor before Lesson 5, then builds a personal protocol across the program's six pillars: Nutrition, Sleep, Exercise and Movement, Supplements and Wearables, Stress Management, and a personal Longevity Protocol, one small habit at a time. It is a plan meant to be kept for the next decades, not abandoned after a 10-week challenge. The Lingo device is a 14-day, painless biosensor, available without a prescription and FSA/HSA-eligible; it is intended for adults 18 and over, is not for people who use insulin, and is not a diagnostic tool.</a:t>
            </a:r>
            <a:endParaRPr lang="en-US" sz="1500" dirty="0"/>
          </a:p>
        </p:txBody>
      </p:sp>
      <p:sp>
        <p:nvSpPr>
          <p:cNvPr id="10" name="Text 8"/>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1" name="Text 9"/>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FINAL · ARTICLE 3 — CONSUMER / FAMILIES  (cont. 2/3)</a:t>
            </a:r>
            <a:endParaRPr lang="en-US" sz="1250" dirty="0"/>
          </a:p>
        </p:txBody>
      </p:sp>
      <p:sp>
        <p:nvSpPr>
          <p:cNvPr id="4" name="Text 2"/>
          <p:cNvSpPr/>
          <p:nvPr/>
        </p:nvSpPr>
        <p:spPr>
          <a:xfrm>
            <a:off x="502920" y="841248"/>
            <a:ext cx="11185855" cy="155448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structure is deliberately human-scale, and it all lives online in one place. Over 18 weeks, an instructor who knows every student by name leads a weekly 50-minute live session, then short daily practices fill the gaps between classes, small enough to fit a working parent's schedule, specific enough to build real momentum. It runs on eTeacher's proprietary advanced learning platform, where students find lesson recordings, guided practice, a community forum, resources, and their own progress in a single login. The cohort of 8 to 15 becomes a support group as much as a classroom, the piece the company credits for turning intentions into routines that outlast the course.</a:t>
            </a:r>
            <a:endParaRPr lang="en-US" sz="1500" dirty="0"/>
          </a:p>
        </p:txBody>
      </p:sp>
      <p:sp>
        <p:nvSpPr>
          <p:cNvPr id="5" name="Text 3"/>
          <p:cNvSpPr/>
          <p:nvPr/>
        </p:nvSpPr>
        <p:spPr>
          <a:xfrm>
            <a:off x="502920" y="2395728"/>
            <a:ext cx="11185855" cy="131064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format is eTeacher's proven engine, refined through years of live teaching to 400,000+ learners across nearly 200 countries and now adapted for healthspan, taught by globally certified longevity instructors, including founding faculty member Julie Gibson Clark, who held the number two spot on the Rejuvenation Olympics leaderboard for more than a year, ahead of the contest's own founder Bryan Johnson. It is the same approach that helped hundreds of thousands of people finish a course they might otherwise have quit, now pointed at the goal of adding strong, capable years to ordinary lives.</a:t>
            </a:r>
            <a:endParaRPr lang="en-US" sz="1500" dirty="0"/>
          </a:p>
        </p:txBody>
      </p:sp>
      <p:sp>
        <p:nvSpPr>
          <p:cNvPr id="6" name="Text 4"/>
          <p:cNvSpPr/>
          <p:nvPr/>
        </p:nvSpPr>
        <p:spPr>
          <a:xfrm>
            <a:off x="502920" y="3706368"/>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Longevity Blueprint is enrolling now from $289 per month. A companion practice app is on eTeacher's roadmap, intended to bring the same daily, low-pressure guidance into students' pockets, alongside additional longevity courses planned for the year ahead.</a:t>
            </a:r>
            <a:endParaRPr lang="en-US" sz="1500" dirty="0"/>
          </a:p>
        </p:txBody>
      </p:sp>
      <p:sp>
        <p:nvSpPr>
          <p:cNvPr id="7" name="Text 5"/>
          <p:cNvSpPr/>
          <p:nvPr/>
        </p:nvSpPr>
        <p:spPr>
          <a:xfrm>
            <a:off x="502920" y="4529328"/>
            <a:ext cx="11185855" cy="106680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"Our goal is to simplify and democratize longevity so anyone, whatever their background, can start their own routine. That is why we put a real teacher in the room and a small class around you, a healthy life is built one taught, repeated habit at a time, and everyone deserves to be taught, supported, and expected back until it sticks," said Harel Tayeb, CEO of eTeacher Group.</a:t>
            </a:r>
            <a:endParaRPr lang="en-US" sz="1500" dirty="0"/>
          </a:p>
        </p:txBody>
      </p:sp>
      <p:sp>
        <p:nvSpPr>
          <p:cNvPr id="8" name="Text 6"/>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9" name="Text 7"/>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FINAL · ARTICLE 3 — CONSUMER / FAMILIES  (cont. 3/3)</a:t>
            </a:r>
            <a:endParaRPr lang="en-US" sz="1250" dirty="0"/>
          </a:p>
        </p:txBody>
      </p:sp>
      <p:sp>
        <p:nvSpPr>
          <p:cNvPr id="4" name="Text 2"/>
          <p:cNvSpPr/>
          <p:nvPr/>
        </p:nvSpPr>
        <p:spPr>
          <a:xfrm>
            <a:off x="502920" y="841248"/>
            <a:ext cx="11185855" cy="131064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About eTeacher Group — eTeacher Group is one of the world's longest-running online-education companies, delivering live, teacher-led courses to more than 10,000 learners a year, with 400,000+ courses completed across nearly 200 countries. It operates proprietary online schools supported by an advanced, technology-enabled learning platform, and roughly 70% of its customers are in the United States. Longevity Life Academy is its sixth online school. Learn more at https://www.longevitylifeacademy.com/</a:t>
            </a:r>
            <a:endParaRPr lang="en-US" sz="1500" dirty="0"/>
          </a:p>
        </p:txBody>
      </p:sp>
      <p:sp>
        <p:nvSpPr>
          <p:cNvPr id="5" name="Text 3"/>
          <p:cNvSpPr/>
          <p:nvPr/>
        </p:nvSpPr>
        <p:spPr>
          <a:xfrm>
            <a:off x="502920" y="2151888"/>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MEDIA CONTACT: Harel Tayeb, CEO, eTeacher Group · omri.gitter@eteachergroup.com · +1-888-230-5110 · https://www.longevitylifeacademy.com/</a:t>
            </a:r>
            <a:endParaRPr lang="en-US" sz="1500" dirty="0"/>
          </a:p>
        </p:txBody>
      </p:sp>
      <p:sp>
        <p:nvSpPr>
          <p:cNvPr id="6" name="Text 4"/>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7" name="Text 5"/>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5A63"/>
        </a:solidFill>
      </p:bgPr>
    </p:bg>
    <p:spTree>
      <p:nvGrpSpPr>
        <p:cNvPr id="1" name=""/>
        <p:cNvGrpSpPr/>
        <p:nvPr/>
      </p:nvGrpSpPr>
      <p:grpSpPr>
        <a:xfrm>
          <a:off x="0" y="0"/>
          <a:ext cx="0" cy="0"/>
          <a:chOff x="0" y="0"/>
          <a:chExt cx="0" cy="0"/>
        </a:xfrm>
      </p:grpSpPr>
      <p:sp>
        <p:nvSpPr>
          <p:cNvPr id="2" name="Shape 0"/>
          <p:cNvSpPr/>
          <p:nvPr/>
        </p:nvSpPr>
        <p:spPr>
          <a:xfrm>
            <a:off x="0" y="2788920"/>
            <a:ext cx="12191695" cy="27432"/>
          </a:xfrm>
          <a:prstGeom prst="rect">
            <a:avLst/>
          </a:prstGeom>
          <a:solidFill>
            <a:srgbClr val="8FB8BD"/>
          </a:solidFill>
          <a:ln/>
        </p:spPr>
      </p:sp>
      <p:sp>
        <p:nvSpPr>
          <p:cNvPr id="3" name="Text 1"/>
          <p:cNvSpPr/>
          <p:nvPr/>
        </p:nvSpPr>
        <p:spPr>
          <a:xfrm>
            <a:off x="914400" y="1828800"/>
            <a:ext cx="10362895" cy="2011680"/>
          </a:xfrm>
          <a:prstGeom prst="rect">
            <a:avLst/>
          </a:prstGeom>
          <a:noFill/>
          <a:ln/>
        </p:spPr>
        <p:txBody>
          <a:bodyPr wrap="square"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PART 2 — DECK 1: LONGEVITY LIFE ACADEMY PR DECK</a:t>
            </a:r>
            <a:endParaRPr lang="en-US" sz="3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16 · ARTICLE 2.1 — THE SIGNING ANNOUNCEMENT  (1/2)</a:t>
            </a:r>
            <a:endParaRPr lang="en-US" sz="1250" dirty="0"/>
          </a:p>
        </p:txBody>
      </p:sp>
      <p:sp>
        <p:nvSpPr>
          <p:cNvPr id="4" name="Text 2"/>
          <p:cNvSpPr/>
          <p:nvPr/>
        </p:nvSpPr>
        <p:spPr>
          <a:xfrm>
            <a:off x="502920" y="694944"/>
            <a:ext cx="11185855" cy="256032"/>
          </a:xfrm>
          <a:prstGeom prst="rect">
            <a:avLst/>
          </a:prstGeom>
          <a:noFill/>
          <a:ln/>
        </p:spPr>
        <p:txBody>
          <a:bodyPr wrap="square" rtlCol="0" anchor="ctr"/>
          <a:lstStyle/>
          <a:p>
            <a:pPr indent="0" marL="0">
              <a:buNone/>
            </a:pPr>
            <a:r>
              <a:rPr lang="en-US" sz="1200" i="1" dirty="0">
                <a:solidFill>
                  <a:srgbClr val="5A6B72"/>
                </a:solidFill>
                <a:latin typeface="Calibri" pitchFamily="34" charset="0"/>
                <a:ea typeface="Calibri" pitchFamily="34" charset="-122"/>
                <a:cs typeface="Calibri" pitchFamily="34" charset="-120"/>
              </a:rPr>
              <a:t>TARGET: PR Newswire → Fortune Well / Forbes</a:t>
            </a:r>
            <a:endParaRPr lang="en-US" sz="1200" dirty="0"/>
          </a:p>
        </p:txBody>
      </p:sp>
      <p:sp>
        <p:nvSpPr>
          <p:cNvPr id="5" name="Text 3"/>
          <p:cNvSpPr/>
          <p:nvPr/>
        </p:nvSpPr>
        <p:spPr>
          <a:xfrm>
            <a:off x="502920" y="969264"/>
            <a:ext cx="11185855" cy="670560"/>
          </a:xfrm>
          <a:prstGeom prst="rect">
            <a:avLst/>
          </a:prstGeom>
          <a:noFill/>
          <a:ln/>
        </p:spPr>
        <p:txBody>
          <a:bodyPr wrap="square" rtlCol="0" anchor="ctr"/>
          <a:lstStyle/>
          <a:p>
            <a:pPr indent="0" marL="0">
              <a:lnSpc>
                <a:spcPct val="102000"/>
              </a:lnSpc>
              <a:buNone/>
            </a:pPr>
            <a:r>
              <a:rPr lang="en-US" sz="2100" b="1" dirty="0">
                <a:solidFill>
                  <a:srgbClr val="13212B"/>
                </a:solidFill>
                <a:latin typeface="Georgia" pitchFamily="34" charset="0"/>
                <a:ea typeface="Georgia" pitchFamily="34" charset="-122"/>
                <a:cs typeface="Georgia" pitchFamily="34" charset="-120"/>
              </a:rPr>
              <a:t>Julie Gibson Clark — Who Out-Aged Bryan Johnson at the Rejuvenation Olympics — Joins eTeacher's Longevity Life Academy Faculty</a:t>
            </a:r>
            <a:endParaRPr lang="en-US" sz="2100" dirty="0"/>
          </a:p>
        </p:txBody>
      </p:sp>
      <p:sp>
        <p:nvSpPr>
          <p:cNvPr id="6" name="Text 4"/>
          <p:cNvSpPr/>
          <p:nvPr/>
        </p:nvSpPr>
        <p:spPr>
          <a:xfrm>
            <a:off x="502920" y="1658112"/>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The Phoenix single mom who held second place on the Rejuvenation Olympics for over a year — ahead of Bryan Johnson — will teach live cohorts inside the 18-week Longevity Blueprint.</a:t>
            </a:r>
            <a:endParaRPr lang="en-US" sz="1400" dirty="0"/>
          </a:p>
        </p:txBody>
      </p:sp>
      <p:sp>
        <p:nvSpPr>
          <p:cNvPr id="7" name="Shape 5"/>
          <p:cNvSpPr/>
          <p:nvPr/>
        </p:nvSpPr>
        <p:spPr>
          <a:xfrm>
            <a:off x="502920" y="2194560"/>
            <a:ext cx="11185855" cy="0"/>
          </a:xfrm>
          <a:prstGeom prst="line">
            <a:avLst/>
          </a:prstGeom>
          <a:noFill/>
          <a:ln w="12700">
            <a:solidFill>
              <a:srgbClr val="D7DAD5"/>
            </a:solidFill>
            <a:prstDash val="solid"/>
          </a:ln>
        </p:spPr>
      </p:sp>
      <p:sp>
        <p:nvSpPr>
          <p:cNvPr id="8" name="Text 6"/>
          <p:cNvSpPr/>
          <p:nvPr/>
        </p:nvSpPr>
        <p:spPr>
          <a:xfrm>
            <a:off x="502920" y="234086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PHOENIX — eTeacher Group today announced that Julie Gibson Clark — who held the #2 spot on the Rejuvenation Olympics leaderboard for more than a year, ahead of the contest's own founder, Bryan Johnson — has joined the live faculty of Longevity Life Academy.</a:t>
            </a:r>
            <a:endParaRPr lang="en-US" sz="1500" dirty="0"/>
          </a:p>
        </p:txBody>
      </p:sp>
      <p:sp>
        <p:nvSpPr>
          <p:cNvPr id="9" name="Text 7"/>
          <p:cNvSpPr/>
          <p:nvPr/>
        </p:nvSpPr>
        <p:spPr>
          <a:xfrm>
            <a:off x="502920" y="316382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Her results are the headline. Gibson Clark, 56, a corporate recruiter and former structural engineer, recorded a DunedinPACE score of 0.665 — meaning she ages roughly 65 days for every 100, about 34% slower than average — achieved on a routine costing around $100–150 a month, versus the roughly $2 million a year spent by the best-funded biohackers.</a:t>
            </a:r>
            <a:endParaRPr lang="en-US" sz="1500" dirty="0"/>
          </a:p>
        </p:txBody>
      </p:sp>
      <p:sp>
        <p:nvSpPr>
          <p:cNvPr id="10" name="Text 8"/>
          <p:cNvSpPr/>
          <p:nvPr/>
        </p:nvSpPr>
        <p:spPr>
          <a:xfrm>
            <a:off x="502920" y="398678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Her signing is a proof point for the school's core thesis — that elite outcomes come from consistent, science-backed habits, not spending — and gives eTeacher a nationally recognizable, relatable face for a US audience where 70% of its customers already live.</a:t>
            </a:r>
            <a:endParaRPr lang="en-US" sz="1500" dirty="0"/>
          </a:p>
        </p:txBody>
      </p:sp>
      <p:sp>
        <p:nvSpPr>
          <p:cNvPr id="11" name="Text 9"/>
          <p:cNvSpPr/>
          <p:nvPr/>
        </p:nvSpPr>
        <p:spPr>
          <a:xfrm>
            <a:off x="502920" y="480974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At LLA she will teach live cohorts of 8–15 students inside The Longevity Blueprint, an 18-week program that guides students to build personalized protocols from their own Abbott Lingo glucose monitor and wearable data across six pillars.</a:t>
            </a:r>
            <a:endParaRPr lang="en-US" sz="1500" dirty="0"/>
          </a:p>
        </p:txBody>
      </p:sp>
      <p:sp>
        <p:nvSpPr>
          <p:cNvPr id="12" name="Text 10"/>
          <p:cNvSpPr/>
          <p:nvPr/>
        </p:nvSpPr>
        <p:spPr>
          <a:xfrm>
            <a:off x="502920" y="538886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"I'm going to introduce one new habit and practice it until it becomes as routine as brushing my teeth," Gibson Clark said, describing the approach she'll teach. "Getting to do that live, with real people who want to change their lives, is a dream."</a:t>
            </a:r>
            <a:endParaRPr lang="en-US" sz="1500" dirty="0"/>
          </a:p>
        </p:txBody>
      </p:sp>
      <p:sp>
        <p:nvSpPr>
          <p:cNvPr id="13" name="Text 11"/>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4" name="Text 12"/>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16 · ARTICLE 2.1 — THE SIGNING ANNOUNCEMENT  (cont. 2/2)</a:t>
            </a:r>
            <a:endParaRPr lang="en-US" sz="1250" dirty="0"/>
          </a:p>
        </p:txBody>
      </p:sp>
      <p:sp>
        <p:nvSpPr>
          <p:cNvPr id="4" name="Text 2"/>
          <p:cNvSpPr/>
          <p:nvPr/>
        </p:nvSpPr>
        <p:spPr>
          <a:xfrm>
            <a:off x="502920" y="841248"/>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"We are focused on impact and results, and Julie's results speak for themselves," said eTeacher CEO Harel Tayeb. "She is living proof that world-class longevity is about consistent, teachable habits — not spending millions — and that is exactly the school we are building." Gibson Clark begins teaching with the current enrollment cohort.</a:t>
            </a:r>
            <a:endParaRPr lang="en-US" sz="1500" dirty="0"/>
          </a:p>
        </p:txBody>
      </p:sp>
      <p:sp>
        <p:nvSpPr>
          <p:cNvPr id="5" name="Text 3"/>
          <p:cNvSpPr/>
          <p:nvPr/>
        </p:nvSpPr>
        <p:spPr>
          <a:xfrm>
            <a:off x="502920" y="1664208"/>
            <a:ext cx="11185855" cy="82296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QUOTE · HAREL TAYEB, CEO, eTeacher Group: "We are focused on impact and results, and Julie's results speak for themselves. She is living proof that world-class longevity is about consistent, teachable habits — not spending millions — and that is exactly the school we are building."</a:t>
            </a:r>
            <a:endParaRPr lang="en-US" sz="1500" dirty="0"/>
          </a:p>
        </p:txBody>
      </p:sp>
      <p:sp>
        <p:nvSpPr>
          <p:cNvPr id="6" name="Text 4"/>
          <p:cNvSpPr/>
          <p:nvPr/>
        </p:nvSpPr>
        <p:spPr>
          <a:xfrm>
            <a:off x="502920" y="2487168"/>
            <a:ext cx="11185855" cy="57912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QUOTE · JULIE GIBSON CLARK, LLA Faculty: "I'm going to introduce one new habit and practice it until it becomes as routine as brushing my teeth. Getting to do that live, with real people who want to change their lives, is a dream."</a:t>
            </a:r>
            <a:endParaRPr lang="en-US" sz="1500" dirty="0"/>
          </a:p>
        </p:txBody>
      </p:sp>
      <p:sp>
        <p:nvSpPr>
          <p:cNvPr id="7" name="Text 5"/>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8" name="Text 6"/>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17 · ARTICLE 2.2 — DAVID-VS-GOLIATH COST STORY  (1/2)</a:t>
            </a:r>
            <a:endParaRPr lang="en-US" sz="1250" dirty="0"/>
          </a:p>
        </p:txBody>
      </p:sp>
      <p:sp>
        <p:nvSpPr>
          <p:cNvPr id="4" name="Text 2"/>
          <p:cNvSpPr/>
          <p:nvPr/>
        </p:nvSpPr>
        <p:spPr>
          <a:xfrm>
            <a:off x="502920" y="694944"/>
            <a:ext cx="11185855" cy="256032"/>
          </a:xfrm>
          <a:prstGeom prst="rect">
            <a:avLst/>
          </a:prstGeom>
          <a:noFill/>
          <a:ln/>
        </p:spPr>
        <p:txBody>
          <a:bodyPr wrap="square" rtlCol="0" anchor="ctr"/>
          <a:lstStyle/>
          <a:p>
            <a:pPr indent="0" marL="0">
              <a:buNone/>
            </a:pPr>
            <a:r>
              <a:rPr lang="en-US" sz="1200" i="1" dirty="0">
                <a:solidFill>
                  <a:srgbClr val="5A6B72"/>
                </a:solidFill>
                <a:latin typeface="Calibri" pitchFamily="34" charset="0"/>
                <a:ea typeface="Calibri" pitchFamily="34" charset="-122"/>
                <a:cs typeface="Calibri" pitchFamily="34" charset="-120"/>
              </a:rPr>
              <a:t>TARGET: Business Insider / CNBC Make It</a:t>
            </a:r>
            <a:endParaRPr lang="en-US" sz="1200" dirty="0"/>
          </a:p>
        </p:txBody>
      </p:sp>
      <p:sp>
        <p:nvSpPr>
          <p:cNvPr id="5" name="Text 3"/>
          <p:cNvSpPr/>
          <p:nvPr/>
        </p:nvSpPr>
        <p:spPr>
          <a:xfrm>
            <a:off x="502920" y="969264"/>
            <a:ext cx="11185855" cy="670560"/>
          </a:xfrm>
          <a:prstGeom prst="rect">
            <a:avLst/>
          </a:prstGeom>
          <a:noFill/>
          <a:ln/>
        </p:spPr>
        <p:txBody>
          <a:bodyPr wrap="square" rtlCol="0" anchor="ctr"/>
          <a:lstStyle/>
          <a:p>
            <a:pPr indent="0" marL="0">
              <a:lnSpc>
                <a:spcPct val="102000"/>
              </a:lnSpc>
              <a:buNone/>
            </a:pPr>
            <a:r>
              <a:rPr lang="en-US" sz="2100" b="1" dirty="0">
                <a:solidFill>
                  <a:srgbClr val="13212B"/>
                </a:solidFill>
                <a:latin typeface="Georgia" pitchFamily="34" charset="0"/>
                <a:ea typeface="Georgia" pitchFamily="34" charset="-122"/>
                <a:cs typeface="Georgia" pitchFamily="34" charset="-120"/>
              </a:rPr>
              <a:t>Longevity Life Academy by eTeacher Group Signs Julie Gibson Clark, Who Out-Aged a $2M-a-Year Biohacker on $12 a Day</a:t>
            </a:r>
            <a:endParaRPr lang="en-US" sz="2100" dirty="0"/>
          </a:p>
        </p:txBody>
      </p:sp>
      <p:sp>
        <p:nvSpPr>
          <p:cNvPr id="6" name="Text 4"/>
          <p:cNvSpPr/>
          <p:nvPr/>
        </p:nvSpPr>
        <p:spPr>
          <a:xfrm>
            <a:off x="502920" y="1658112"/>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Julie Gibson Clark's budget longevity results ranked her #2 in the world; now she's teaching the method inside a course that starts at $289 a month.</a:t>
            </a:r>
            <a:endParaRPr lang="en-US" sz="1400" dirty="0"/>
          </a:p>
        </p:txBody>
      </p:sp>
      <p:sp>
        <p:nvSpPr>
          <p:cNvPr id="7" name="Shape 5"/>
          <p:cNvSpPr/>
          <p:nvPr/>
        </p:nvSpPr>
        <p:spPr>
          <a:xfrm>
            <a:off x="502920" y="2194560"/>
            <a:ext cx="11185855" cy="0"/>
          </a:xfrm>
          <a:prstGeom prst="line">
            <a:avLst/>
          </a:prstGeom>
          <a:noFill/>
          <a:ln w="12700">
            <a:solidFill>
              <a:srgbClr val="D7DAD5"/>
            </a:solidFill>
            <a:prstDash val="solid"/>
          </a:ln>
        </p:spPr>
      </p:sp>
      <p:sp>
        <p:nvSpPr>
          <p:cNvPr id="8" name="Text 6"/>
          <p:cNvSpPr/>
          <p:nvPr/>
        </p:nvSpPr>
        <p:spPr>
          <a:xfrm>
            <a:off x="502920" y="234086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PHOENIX — Julie Gibson Clark became a global story for a simple, provocative reason: she achieved elite anti-aging results without an elite budget, ranking second worldwide on roughly $100–150 a month — about $12 a day — while Bryan Johnson reportedly spends around $2 million a year.</a:t>
            </a:r>
            <a:endParaRPr lang="en-US" sz="1500" dirty="0"/>
          </a:p>
        </p:txBody>
      </p:sp>
      <p:sp>
        <p:nvSpPr>
          <p:cNvPr id="9" name="Text 7"/>
          <p:cNvSpPr/>
          <p:nvPr/>
        </p:nvSpPr>
        <p:spPr>
          <a:xfrm>
            <a:off x="502920" y="316382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Now that philosophy has an institution behind it. As a Longevity Life Academy instructor, Gibson Clark brings her low-cost, high-consistency method into eTeacher's live cohorts of 8–15, where The Longevity Blueprint starts at $289 per month and includes an Abbott Lingo glucose monitor shipped to every US student.</a:t>
            </a:r>
            <a:endParaRPr lang="en-US" sz="1500" dirty="0"/>
          </a:p>
        </p:txBody>
      </p:sp>
      <p:sp>
        <p:nvSpPr>
          <p:cNvPr id="10" name="Text 8"/>
          <p:cNvSpPr/>
          <p:nvPr/>
        </p:nvSpPr>
        <p:spPr>
          <a:xfrm>
            <a:off x="502920" y="398678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For eTeacher, whose model already democratizes education across nearly 200 countries, Gibson Clark is a natural fit: living evidence that healthspan can be a mainstream purchase rather than a luxury service.</a:t>
            </a:r>
            <a:endParaRPr lang="en-US" sz="1500" dirty="0"/>
          </a:p>
        </p:txBody>
      </p:sp>
      <p:sp>
        <p:nvSpPr>
          <p:cNvPr id="11" name="Text 9"/>
          <p:cNvSpPr/>
          <p:nvPr/>
        </p:nvSpPr>
        <p:spPr>
          <a:xfrm>
            <a:off x="502920" y="456590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gap is the point. Her DunedinPACE score of 0.665 puts her among the slowest-aging people measured, yet her routine leans on inexpensive fundamentals: a pound of vegetables daily, 100–130g of protein, strength plus VO2-max and Zone 2 training, sauna and cold, 7–8 hours of sleep, and a roughly $79-a-month supplement stack.</a:t>
            </a:r>
            <a:endParaRPr lang="en-US" sz="1500" dirty="0"/>
          </a:p>
        </p:txBody>
      </p:sp>
      <p:sp>
        <p:nvSpPr>
          <p:cNvPr id="12" name="Text 10"/>
          <p:cNvSpPr/>
          <p:nvPr/>
        </p:nvSpPr>
        <p:spPr>
          <a:xfrm>
            <a:off x="502920" y="538886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"You have to think, 'This is the rest of my life.' It's not about a 10-week program for a beach body," Gibson Clark said. "The budget was never the barrier — the missing piece was someone teaching you what actually works."</a:t>
            </a:r>
            <a:endParaRPr lang="en-US" sz="1500" dirty="0"/>
          </a:p>
        </p:txBody>
      </p:sp>
      <p:sp>
        <p:nvSpPr>
          <p:cNvPr id="13" name="Text 11"/>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4" name="Text 12"/>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17 · ARTICLE 2.2 — DAVID-VS-GOLIATH COST STORY  (cont. 2/2)</a:t>
            </a:r>
            <a:endParaRPr lang="en-US" sz="1250" dirty="0"/>
          </a:p>
        </p:txBody>
      </p:sp>
      <p:sp>
        <p:nvSpPr>
          <p:cNvPr id="4" name="Text 2"/>
          <p:cNvSpPr/>
          <p:nvPr/>
        </p:nvSpPr>
        <p:spPr>
          <a:xfrm>
            <a:off x="502920" y="841248"/>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"We are focused on impact and results, and Julie's results speak for themselves," said CEO Harel Tayeb. "Our whole mission is to democratize what used to be a luxury — and a $12-a-day protocol that beats a $2-million-a-year one is the clearest case we could ask for."</a:t>
            </a:r>
            <a:endParaRPr lang="en-US" sz="1500" dirty="0"/>
          </a:p>
        </p:txBody>
      </p:sp>
      <p:sp>
        <p:nvSpPr>
          <p:cNvPr id="5" name="Text 3"/>
          <p:cNvSpPr/>
          <p:nvPr/>
        </p:nvSpPr>
        <p:spPr>
          <a:xfrm>
            <a:off x="502920" y="1664208"/>
            <a:ext cx="11185855" cy="82296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QUOTE · HAREL TAYEB, CEO, eTeacher Group: "We are focused on impact and results, and Julie's results speak for themselves. Our whole mission is to democratize what used to be a luxury — and a $12-a-day protocol that beats a $2-million-a-year one is the clearest case we could ask for."</a:t>
            </a:r>
            <a:endParaRPr lang="en-US" sz="1500" dirty="0"/>
          </a:p>
        </p:txBody>
      </p:sp>
      <p:sp>
        <p:nvSpPr>
          <p:cNvPr id="6" name="Text 4"/>
          <p:cNvSpPr/>
          <p:nvPr/>
        </p:nvSpPr>
        <p:spPr>
          <a:xfrm>
            <a:off x="502920" y="2487168"/>
            <a:ext cx="11185855" cy="57912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QUOTE · JULIE GIBSON CLARK, LLA Faculty: "You have to think, 'This is the rest of my life.' It's not about a 10-week program for a beach body. The budget was never the barrier — the missing piece was someone teaching you what actually works."</a:t>
            </a:r>
            <a:endParaRPr lang="en-US" sz="1500" dirty="0"/>
          </a:p>
        </p:txBody>
      </p:sp>
      <p:sp>
        <p:nvSpPr>
          <p:cNvPr id="7" name="Text 5"/>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8" name="Text 6"/>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18 · ARTICLE 2.3 — SINGLE-MOM HUMAN INTEREST  (1/2)</a:t>
            </a:r>
            <a:endParaRPr lang="en-US" sz="1250" dirty="0"/>
          </a:p>
        </p:txBody>
      </p:sp>
      <p:sp>
        <p:nvSpPr>
          <p:cNvPr id="4" name="Text 2"/>
          <p:cNvSpPr/>
          <p:nvPr/>
        </p:nvSpPr>
        <p:spPr>
          <a:xfrm>
            <a:off x="502920" y="694944"/>
            <a:ext cx="11185855" cy="256032"/>
          </a:xfrm>
          <a:prstGeom prst="rect">
            <a:avLst/>
          </a:prstGeom>
          <a:noFill/>
          <a:ln/>
        </p:spPr>
        <p:txBody>
          <a:bodyPr wrap="square" rtlCol="0" anchor="ctr"/>
          <a:lstStyle/>
          <a:p>
            <a:pPr indent="0" marL="0">
              <a:buNone/>
            </a:pPr>
            <a:r>
              <a:rPr lang="en-US" sz="1200" i="1" dirty="0">
                <a:solidFill>
                  <a:srgbClr val="5A6B72"/>
                </a:solidFill>
                <a:latin typeface="Calibri" pitchFamily="34" charset="0"/>
                <a:ea typeface="Calibri" pitchFamily="34" charset="-122"/>
                <a:cs typeface="Calibri" pitchFamily="34" charset="-120"/>
              </a:rPr>
              <a:t>TARGET: Today / People / Yahoo Life</a:t>
            </a:r>
            <a:endParaRPr lang="en-US" sz="1200" dirty="0"/>
          </a:p>
        </p:txBody>
      </p:sp>
      <p:sp>
        <p:nvSpPr>
          <p:cNvPr id="5" name="Text 3"/>
          <p:cNvSpPr/>
          <p:nvPr/>
        </p:nvSpPr>
        <p:spPr>
          <a:xfrm>
            <a:off x="502920" y="969264"/>
            <a:ext cx="11185855" cy="670560"/>
          </a:xfrm>
          <a:prstGeom prst="rect">
            <a:avLst/>
          </a:prstGeom>
          <a:noFill/>
          <a:ln/>
        </p:spPr>
        <p:txBody>
          <a:bodyPr wrap="square" rtlCol="0" anchor="ctr"/>
          <a:lstStyle/>
          <a:p>
            <a:pPr indent="0" marL="0">
              <a:lnSpc>
                <a:spcPct val="102000"/>
              </a:lnSpc>
              <a:buNone/>
            </a:pPr>
            <a:r>
              <a:rPr lang="en-US" sz="2100" b="1" dirty="0">
                <a:solidFill>
                  <a:srgbClr val="13212B"/>
                </a:solidFill>
                <a:latin typeface="Georgia" pitchFamily="34" charset="0"/>
                <a:ea typeface="Georgia" pitchFamily="34" charset="-122"/>
                <a:cs typeface="Georgia" pitchFamily="34" charset="-120"/>
              </a:rPr>
              <a:t>Julie Gibson Clark, the 2nd Slowest-Aging Woman on Earth, Joins Longevity Life Academy by eTeacher Group to Teach American Families</a:t>
            </a:r>
            <a:endParaRPr lang="en-US" sz="2100" dirty="0"/>
          </a:p>
        </p:txBody>
      </p:sp>
      <p:sp>
        <p:nvSpPr>
          <p:cNvPr id="6" name="Text 4"/>
          <p:cNvSpPr/>
          <p:nvPr/>
        </p:nvSpPr>
        <p:spPr>
          <a:xfrm>
            <a:off x="502920" y="1658112"/>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Julie Gibson Clark's motivation was never a leaderboard — it was being there for her son. Now she's helping thousands find their own why.</a:t>
            </a:r>
            <a:endParaRPr lang="en-US" sz="1400" dirty="0"/>
          </a:p>
        </p:txBody>
      </p:sp>
      <p:sp>
        <p:nvSpPr>
          <p:cNvPr id="7" name="Shape 5"/>
          <p:cNvSpPr/>
          <p:nvPr/>
        </p:nvSpPr>
        <p:spPr>
          <a:xfrm>
            <a:off x="502920" y="2194560"/>
            <a:ext cx="11185855" cy="0"/>
          </a:xfrm>
          <a:prstGeom prst="line">
            <a:avLst/>
          </a:prstGeom>
          <a:noFill/>
          <a:ln w="12700">
            <a:solidFill>
              <a:srgbClr val="D7DAD5"/>
            </a:solidFill>
            <a:prstDash val="solid"/>
          </a:ln>
        </p:spPr>
      </p:sp>
      <p:sp>
        <p:nvSpPr>
          <p:cNvPr id="8" name="Text 6"/>
          <p:cNvSpPr/>
          <p:nvPr/>
        </p:nvSpPr>
        <p:spPr>
          <a:xfrm>
            <a:off x="502920" y="234086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PHOENIX — Before she was a longevity figure ranked second in the world, Julie Gibson Clark was a single mom who simply wanted more healthy years with her son. That personal "why" became the foundation of a routine that placed her among the slowest-aging people ever measured.</a:t>
            </a:r>
            <a:endParaRPr lang="en-US" sz="1500" dirty="0"/>
          </a:p>
        </p:txBody>
      </p:sp>
      <p:sp>
        <p:nvSpPr>
          <p:cNvPr id="9" name="Text 7"/>
          <p:cNvSpPr/>
          <p:nvPr/>
        </p:nvSpPr>
        <p:spPr>
          <a:xfrm>
            <a:off x="502920" y="316382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human story resonates because it inverts the usual longevity narrative. Where the field's headliners chase optimization for its own sake, Gibson Clark, 56, built her practice — a DunedinPACE of 0.665, roughly 34% slower aging — around a reason to be here, not a number to beat.</a:t>
            </a:r>
            <a:endParaRPr lang="en-US" sz="1500" dirty="0"/>
          </a:p>
        </p:txBody>
      </p:sp>
      <p:sp>
        <p:nvSpPr>
          <p:cNvPr id="10" name="Text 8"/>
          <p:cNvSpPr/>
          <p:nvPr/>
        </p:nvSpPr>
        <p:spPr>
          <a:xfrm>
            <a:off x="502920" y="398678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It's a message that fits eTeacher's belief that learning holds when it's personal and meaningful — the same conviction behind 400,000+ courses delivered across nearly 200 countries.</a:t>
            </a:r>
            <a:endParaRPr lang="en-US" sz="1500" dirty="0"/>
          </a:p>
        </p:txBody>
      </p:sp>
      <p:sp>
        <p:nvSpPr>
          <p:cNvPr id="11" name="Text 9"/>
          <p:cNvSpPr/>
          <p:nvPr/>
        </p:nvSpPr>
        <p:spPr>
          <a:xfrm>
            <a:off x="502920" y="456590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At Longevity Life Academy, that same philosophy anchors her live teaching: start with your why, then build one sustainable habit at a time until it sticks. She'll lead small cohorts of 8–15 through the 18-week Longevity Blueprint, each student working from their own glucose and wearable data.</a:t>
            </a:r>
            <a:endParaRPr lang="en-US" sz="1500" dirty="0"/>
          </a:p>
        </p:txBody>
      </p:sp>
      <p:sp>
        <p:nvSpPr>
          <p:cNvPr id="12" name="Text 10"/>
          <p:cNvSpPr/>
          <p:nvPr/>
        </p:nvSpPr>
        <p:spPr>
          <a:xfrm>
            <a:off x="502920" y="538886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"I want to be here for my son — when he gets married and has kids, I want to be able to help in any way I can, and I just want to have that energy forever," Gibson Clark said. "Helping other parents find that same why is the most meaningful work I've done."</a:t>
            </a:r>
            <a:endParaRPr lang="en-US" sz="1500" dirty="0"/>
          </a:p>
        </p:txBody>
      </p:sp>
      <p:sp>
        <p:nvSpPr>
          <p:cNvPr id="13" name="Text 11"/>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4" name="Text 12"/>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18 · ARTICLE 2.3 — SINGLE-MOM HUMAN INTEREST  (cont. 2/2)</a:t>
            </a:r>
            <a:endParaRPr lang="en-US" sz="1250" dirty="0"/>
          </a:p>
        </p:txBody>
      </p:sp>
      <p:sp>
        <p:nvSpPr>
          <p:cNvPr id="4" name="Text 2"/>
          <p:cNvSpPr/>
          <p:nvPr/>
        </p:nvSpPr>
        <p:spPr>
          <a:xfrm>
            <a:off x="502920" y="841248"/>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"When the teacher creates a personal connection, there are no real barriers and learning happens naturally," added CEO Harel Tayeb. "Julie starts from why, not from numbers — and that is why she will reach people a leaderboard never could."</a:t>
            </a:r>
            <a:endParaRPr lang="en-US" sz="1500" dirty="0"/>
          </a:p>
        </p:txBody>
      </p:sp>
      <p:sp>
        <p:nvSpPr>
          <p:cNvPr id="5" name="Text 3"/>
          <p:cNvSpPr/>
          <p:nvPr/>
        </p:nvSpPr>
        <p:spPr>
          <a:xfrm>
            <a:off x="502920" y="1420368"/>
            <a:ext cx="11185855" cy="82296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QUOTE · HAREL TAYEB, CEO, eTeacher Group: "When the teacher creates a personal connection, there are no real barriers and learning happens naturally. Julie starts from why, not from numbers — and that is why she will reach people a leaderboard never could."</a:t>
            </a:r>
            <a:endParaRPr lang="en-US" sz="1500" dirty="0"/>
          </a:p>
        </p:txBody>
      </p:sp>
      <p:sp>
        <p:nvSpPr>
          <p:cNvPr id="6" name="Text 4"/>
          <p:cNvSpPr/>
          <p:nvPr/>
        </p:nvSpPr>
        <p:spPr>
          <a:xfrm>
            <a:off x="502920" y="2243328"/>
            <a:ext cx="11185855" cy="82296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QUOTE · JULIE GIBSON CLARK, LLA Faculty: "I want to be here for my son — when he gets married and has kids, I want to be able to help in any way I can, and I just want to have that energy forever. Helping other parents find that same why is the most meaningful work I've done."</a:t>
            </a:r>
            <a:endParaRPr lang="en-US" sz="1500" dirty="0"/>
          </a:p>
        </p:txBody>
      </p:sp>
      <p:sp>
        <p:nvSpPr>
          <p:cNvPr id="7" name="Text 5"/>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8" name="Text 6"/>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19 · ARTICLE 2.4 — SCIENCE / DATA STORY  (1/2)</a:t>
            </a:r>
            <a:endParaRPr lang="en-US" sz="1250" dirty="0"/>
          </a:p>
        </p:txBody>
      </p:sp>
      <p:sp>
        <p:nvSpPr>
          <p:cNvPr id="4" name="Text 2"/>
          <p:cNvSpPr/>
          <p:nvPr/>
        </p:nvSpPr>
        <p:spPr>
          <a:xfrm>
            <a:off x="502920" y="694944"/>
            <a:ext cx="11185855" cy="256032"/>
          </a:xfrm>
          <a:prstGeom prst="rect">
            <a:avLst/>
          </a:prstGeom>
          <a:noFill/>
          <a:ln/>
        </p:spPr>
        <p:txBody>
          <a:bodyPr wrap="square" rtlCol="0" anchor="ctr"/>
          <a:lstStyle/>
          <a:p>
            <a:pPr indent="0" marL="0">
              <a:buNone/>
            </a:pPr>
            <a:r>
              <a:rPr lang="en-US" sz="1200" i="1" dirty="0">
                <a:solidFill>
                  <a:srgbClr val="5A6B72"/>
                </a:solidFill>
                <a:latin typeface="Calibri" pitchFamily="34" charset="0"/>
                <a:ea typeface="Calibri" pitchFamily="34" charset="-122"/>
                <a:cs typeface="Calibri" pitchFamily="34" charset="-120"/>
              </a:rPr>
              <a:t>TARGET: Longevity.Technology / Well+Good / Women's Health</a:t>
            </a:r>
            <a:endParaRPr lang="en-US" sz="1200" dirty="0"/>
          </a:p>
        </p:txBody>
      </p:sp>
      <p:sp>
        <p:nvSpPr>
          <p:cNvPr id="5" name="Text 3"/>
          <p:cNvSpPr/>
          <p:nvPr/>
        </p:nvSpPr>
        <p:spPr>
          <a:xfrm>
            <a:off x="502920" y="969264"/>
            <a:ext cx="11185855" cy="670560"/>
          </a:xfrm>
          <a:prstGeom prst="rect">
            <a:avLst/>
          </a:prstGeom>
          <a:noFill/>
          <a:ln/>
        </p:spPr>
        <p:txBody>
          <a:bodyPr wrap="square" rtlCol="0" anchor="ctr"/>
          <a:lstStyle/>
          <a:p>
            <a:pPr indent="0" marL="0">
              <a:lnSpc>
                <a:spcPct val="102000"/>
              </a:lnSpc>
              <a:buNone/>
            </a:pPr>
            <a:r>
              <a:rPr lang="en-US" sz="2100" b="1" dirty="0">
                <a:solidFill>
                  <a:srgbClr val="13212B"/>
                </a:solidFill>
                <a:latin typeface="Georgia" pitchFamily="34" charset="0"/>
                <a:ea typeface="Georgia" pitchFamily="34" charset="-122"/>
                <a:cs typeface="Georgia" pitchFamily="34" charset="-120"/>
              </a:rPr>
              <a:t>Julie Gibson Clark, the 2nd Slowest-Aging Woman on Earth, Joins Longevity Life Academy by eTeacher Group to Teach the Habits Behind Her Results</a:t>
            </a:r>
            <a:endParaRPr lang="en-US" sz="2100" dirty="0"/>
          </a:p>
        </p:txBody>
      </p:sp>
      <p:sp>
        <p:nvSpPr>
          <p:cNvPr id="6" name="Text 4"/>
          <p:cNvSpPr/>
          <p:nvPr/>
        </p:nvSpPr>
        <p:spPr>
          <a:xfrm>
            <a:off x="502920" y="1658112"/>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Her biomarker data suggests she ages about 34% slower than average; at Longevity Life Academy she'll teach the strength, protein, and VO2-max fundamentals behind it.</a:t>
            </a:r>
            <a:endParaRPr lang="en-US" sz="1400" dirty="0"/>
          </a:p>
        </p:txBody>
      </p:sp>
      <p:sp>
        <p:nvSpPr>
          <p:cNvPr id="7" name="Shape 5"/>
          <p:cNvSpPr/>
          <p:nvPr/>
        </p:nvSpPr>
        <p:spPr>
          <a:xfrm>
            <a:off x="502920" y="2194560"/>
            <a:ext cx="11185855" cy="0"/>
          </a:xfrm>
          <a:prstGeom prst="line">
            <a:avLst/>
          </a:prstGeom>
          <a:noFill/>
          <a:ln w="12700">
            <a:solidFill>
              <a:srgbClr val="D7DAD5"/>
            </a:solidFill>
            <a:prstDash val="solid"/>
          </a:ln>
        </p:spPr>
      </p:sp>
      <p:sp>
        <p:nvSpPr>
          <p:cNvPr id="8" name="Text 6"/>
          <p:cNvSpPr/>
          <p:nvPr/>
        </p:nvSpPr>
        <p:spPr>
          <a:xfrm>
            <a:off x="502920" y="234086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PHOENIX — The number that made Julie Gibson Clark famous is a DunedinPACE score of 0.665 — a measure of the pace of biological aging suggesting she ages roughly 65 days for every 100, or about 34% slower than average. She now brings the science behind that number to Longevity Life Academy.</a:t>
            </a:r>
            <a:endParaRPr lang="en-US" sz="1500" dirty="0"/>
          </a:p>
        </p:txBody>
      </p:sp>
      <p:sp>
        <p:nvSpPr>
          <p:cNvPr id="9" name="Text 7"/>
          <p:cNvSpPr/>
          <p:nvPr/>
        </p:nvSpPr>
        <p:spPr>
          <a:xfrm>
            <a:off x="502920" y="316382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That evidence-based, data-driven approach maps directly onto LLA's method, which puts an Abbott Lingo continuous glucose monitor in every student's hands before Lesson 5 and teaches them to read glucose, HRV, and sleep as a live feedback loop across the six pillars.</a:t>
            </a:r>
            <a:endParaRPr lang="en-US" sz="1500" dirty="0"/>
          </a:p>
        </p:txBody>
      </p:sp>
      <p:sp>
        <p:nvSpPr>
          <p:cNvPr id="10" name="Text 8"/>
          <p:cNvSpPr/>
          <p:nvPr/>
        </p:nvSpPr>
        <p:spPr>
          <a:xfrm>
            <a:off x="502920" y="398678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It matters because it reframes the debate. Gibson Clark, 56, reached that result not through exotic interventions but through measurable, repeatable fundamentals: strength training, 100–130g of protein daily, VO2-max work via the Norwegian 4x4 protocol plus Zone 2, sauna and cold exposure, and 7–8 hours of sleep.</a:t>
            </a:r>
            <a:endParaRPr lang="en-US" sz="1500" dirty="0"/>
          </a:p>
        </p:txBody>
      </p:sp>
      <p:sp>
        <p:nvSpPr>
          <p:cNvPr id="11" name="Text 9"/>
          <p:cNvSpPr/>
          <p:nvPr/>
        </p:nvSpPr>
        <p:spPr>
          <a:xfrm>
            <a:off x="502920" y="480974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Her focus areas align with the curriculum's Exercise &amp; Movement, Nutrition, Sleep, and Stress Management pillars — alongside named instructors such as UC Santa Barbara senior lecturer and NASM-certified trainer Amy Jamieson — grounding the program in verifiable outcomes rather than trends.</a:t>
            </a:r>
            <a:endParaRPr lang="en-US" sz="1500" dirty="0"/>
          </a:p>
        </p:txBody>
      </p:sp>
      <p:sp>
        <p:nvSpPr>
          <p:cNvPr id="12" name="Text 10"/>
          <p:cNvSpPr/>
          <p:nvPr/>
        </p:nvSpPr>
        <p:spPr>
          <a:xfrm>
            <a:off x="502920" y="563270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"I think the biggest bang for your buck right now is eating right, exercising and sleeping — that alone will optimize your cells," Gibson Clark said. "The data just confirms what the fundamentals were doing all along."</a:t>
            </a:r>
            <a:endParaRPr lang="en-US" sz="1500" dirty="0"/>
          </a:p>
        </p:txBody>
      </p:sp>
      <p:sp>
        <p:nvSpPr>
          <p:cNvPr id="13" name="Text 11"/>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4" name="Text 12"/>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19 · ARTICLE 2.4 — SCIENCE / DATA STORY  (cont. 2/2)</a:t>
            </a:r>
            <a:endParaRPr lang="en-US" sz="1250" dirty="0"/>
          </a:p>
        </p:txBody>
      </p:sp>
      <p:sp>
        <p:nvSpPr>
          <p:cNvPr id="4" name="Text 2"/>
          <p:cNvSpPr/>
          <p:nvPr/>
        </p:nvSpPr>
        <p:spPr>
          <a:xfrm>
            <a:off x="502920" y="841248"/>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eTeacher says a dedicated Biomarkers &amp; Advanced Wearables course is on its roadmap, extending the data-first teaching Gibson Clark exemplifies.</a:t>
            </a:r>
            <a:endParaRPr lang="en-US" sz="1500" dirty="0"/>
          </a:p>
        </p:txBody>
      </p:sp>
      <p:sp>
        <p:nvSpPr>
          <p:cNvPr id="5" name="Text 3"/>
          <p:cNvSpPr/>
          <p:nvPr/>
        </p:nvSpPr>
        <p:spPr>
          <a:xfrm>
            <a:off x="502920" y="1420368"/>
            <a:ext cx="11185855" cy="82296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HIGHLIGHTED QUOTE · JULIE GIBSON CLARK, LLA Faculty: "I think the biggest bang for your buck right now is eating right, exercising and sleeping — that alone will optimize your cells. The data just confirms what the fundamentals were doing all along."</a:t>
            </a:r>
            <a:endParaRPr lang="en-US" sz="1500" dirty="0"/>
          </a:p>
        </p:txBody>
      </p:sp>
      <p:sp>
        <p:nvSpPr>
          <p:cNvPr id="6" name="Text 4"/>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7" name="Text 5"/>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27 · ARTICLE 5.2 — EARLY DETECTION / KNOW-YOUR-OWN-DATA  (1/2)</a:t>
            </a:r>
            <a:endParaRPr lang="en-US" sz="1250" dirty="0"/>
          </a:p>
        </p:txBody>
      </p:sp>
      <p:sp>
        <p:nvSpPr>
          <p:cNvPr id="4" name="Text 2"/>
          <p:cNvSpPr/>
          <p:nvPr/>
        </p:nvSpPr>
        <p:spPr>
          <a:xfrm>
            <a:off x="502920" y="694944"/>
            <a:ext cx="11185855" cy="256032"/>
          </a:xfrm>
          <a:prstGeom prst="rect">
            <a:avLst/>
          </a:prstGeom>
          <a:noFill/>
          <a:ln/>
        </p:spPr>
        <p:txBody>
          <a:bodyPr wrap="square" rtlCol="0" anchor="ctr"/>
          <a:lstStyle/>
          <a:p>
            <a:pPr indent="0" marL="0">
              <a:buNone/>
            </a:pPr>
            <a:r>
              <a:rPr lang="en-US" sz="1200" i="1" dirty="0">
                <a:solidFill>
                  <a:srgbClr val="5A6B72"/>
                </a:solidFill>
                <a:latin typeface="Calibri" pitchFamily="34" charset="0"/>
                <a:ea typeface="Calibri" pitchFamily="34" charset="-122"/>
                <a:cs typeface="Calibri" pitchFamily="34" charset="-120"/>
              </a:rPr>
              <a:t>TARGET: Fortune Well / Healthline / MedCity News</a:t>
            </a:r>
            <a:endParaRPr lang="en-US" sz="1200" dirty="0"/>
          </a:p>
        </p:txBody>
      </p:sp>
      <p:sp>
        <p:nvSpPr>
          <p:cNvPr id="5" name="Text 3"/>
          <p:cNvSpPr/>
          <p:nvPr/>
        </p:nvSpPr>
        <p:spPr>
          <a:xfrm>
            <a:off x="502920" y="969264"/>
            <a:ext cx="11185855" cy="670560"/>
          </a:xfrm>
          <a:prstGeom prst="rect">
            <a:avLst/>
          </a:prstGeom>
          <a:noFill/>
          <a:ln/>
        </p:spPr>
        <p:txBody>
          <a:bodyPr wrap="square" rtlCol="0" anchor="ctr"/>
          <a:lstStyle/>
          <a:p>
            <a:pPr indent="0" marL="0">
              <a:lnSpc>
                <a:spcPct val="102000"/>
              </a:lnSpc>
              <a:buNone/>
            </a:pPr>
            <a:r>
              <a:rPr lang="en-US" sz="2100" b="1" dirty="0">
                <a:solidFill>
                  <a:srgbClr val="13212B"/>
                </a:solidFill>
                <a:latin typeface="Georgia" pitchFamily="34" charset="0"/>
                <a:ea typeface="Georgia" pitchFamily="34" charset="-122"/>
                <a:cs typeface="Georgia" pitchFamily="34" charset="-120"/>
              </a:rPr>
              <a:t>Bryan Johnson's Diagnosis Hid for Years — Longevity Life Academy Teaches Students to Read Their Own Biomarkers Early</a:t>
            </a:r>
            <a:endParaRPr lang="en-US" sz="2100" dirty="0"/>
          </a:p>
        </p:txBody>
      </p:sp>
      <p:sp>
        <p:nvSpPr>
          <p:cNvPr id="6" name="Text 4"/>
          <p:cNvSpPr/>
          <p:nvPr/>
        </p:nvSpPr>
        <p:spPr>
          <a:xfrm>
            <a:off x="502920" y="1658112"/>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Bryan Johnson's autoimmune gastritis went undetected for years despite intensive monitoring. Longevity Life Academy is built on a simpler premise: teach ordinary people to read their own body data, consistently, before problems compound.</a:t>
            </a:r>
            <a:endParaRPr lang="en-US" sz="1400" dirty="0"/>
          </a:p>
        </p:txBody>
      </p:sp>
      <p:sp>
        <p:nvSpPr>
          <p:cNvPr id="7" name="Shape 5"/>
          <p:cNvSpPr/>
          <p:nvPr/>
        </p:nvSpPr>
        <p:spPr>
          <a:xfrm>
            <a:off x="502920" y="2194560"/>
            <a:ext cx="11185855" cy="0"/>
          </a:xfrm>
          <a:prstGeom prst="line">
            <a:avLst/>
          </a:prstGeom>
          <a:noFill/>
          <a:ln w="12700">
            <a:solidFill>
              <a:srgbClr val="D7DAD5"/>
            </a:solidFill>
            <a:prstDash val="solid"/>
          </a:ln>
        </p:spPr>
      </p:sp>
      <p:sp>
        <p:nvSpPr>
          <p:cNvPr id="8" name="Text 6"/>
          <p:cNvSpPr/>
          <p:nvPr/>
        </p:nvSpPr>
        <p:spPr>
          <a:xfrm>
            <a:off x="502920" y="2340864"/>
            <a:ext cx="11185855" cy="33528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FOR IMMEDIATE RELEASE</a:t>
            </a:r>
            <a:endParaRPr lang="en-US" sz="1500" dirty="0"/>
          </a:p>
        </p:txBody>
      </p:sp>
      <p:sp>
        <p:nvSpPr>
          <p:cNvPr id="9" name="Text 7"/>
          <p:cNvSpPr/>
          <p:nvPr/>
        </p:nvSpPr>
        <p:spPr>
          <a:xfrm>
            <a:off x="502920" y="2676144"/>
            <a:ext cx="11185855" cy="228600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One detail in Bryan Johnson's recent disclosure resonated with clinicians: even with elite monitoring, his autoimmune gastritis stayed hidden for years, surfacing only after persistent low iron was finally investigated. If a condition can hide from the world's most-tracked body, the case for teaching everyone to read their own data grows stronger, not weaker. That is the founding premise of Longevity Life Academy, the sixth online school of 25-year education company eTeacher Group. The academy does not promise to out-spend disease. It teaches students to understand their own biomarkers — glucose, sleep, movement, and the numbers on their own lab reports — so they become active participants in their health rather than passive patients. Every US student receives an Abbott Lingo continuous glucose monitor before Lesson 5, and the 18-week live curriculum builds the habit of asking what one's own body is signaling. Instruction happens in small groups of 8–15, led by named faculty, so questions get real answers in real time.</a:t>
            </a:r>
            <a:endParaRPr lang="en-US" sz="1500" dirty="0"/>
          </a:p>
        </p:txBody>
      </p:sp>
      <p:sp>
        <p:nvSpPr>
          <p:cNvPr id="10" name="Text 8"/>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1" name="Text 9"/>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27 · ARTICLE 5.2 — EARLY DETECTION / KNOW-YOUR-OWN-DATA  (cont. 2/2)</a:t>
            </a:r>
            <a:endParaRPr lang="en-US" sz="1250" dirty="0"/>
          </a:p>
        </p:txBody>
      </p:sp>
      <p:sp>
        <p:nvSpPr>
          <p:cNvPr id="4" name="Text 2"/>
          <p:cNvSpPr/>
          <p:nvPr/>
        </p:nvSpPr>
        <p:spPr>
          <a:xfrm>
            <a:off x="502920" y="841248"/>
            <a:ext cx="11185855" cy="131064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academy is careful about its lane: it is education, not diagnosis, and it encourages students to work with their physicians. Its contribution is literacy — the daily, teachable skill of noticing change early, which even the most expensive protocols can't outsource. "Bryan Johnson's experience is a reminder that no one is exempt, and that early awareness matters more than any single gadget," said CEO Harel Tayeb. "We don't teach people to fear their bodies. We teach them to read them — calmly, consistently, and early enough to act." Longevity Life Academy is enrolling now from $289 per month.</a:t>
            </a:r>
            <a:endParaRPr lang="en-US" sz="1500" dirty="0"/>
          </a:p>
        </p:txBody>
      </p:sp>
      <p:sp>
        <p:nvSpPr>
          <p:cNvPr id="5" name="Text 3"/>
          <p:cNvSpPr/>
          <p:nvPr/>
        </p:nvSpPr>
        <p:spPr>
          <a:xfrm>
            <a:off x="502920" y="2151888"/>
            <a:ext cx="11185855" cy="82296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HIGHLIGHTED QUOTE · HAREL TAYEB, CEO, eTeacher Group: "Bryan Johnson's experience is a reminder that no one is exempt, and that early awareness matters more than any single gadget. We don't teach people to fear their bodies. We teach them to read them — calmly, consistently, and early enough to act."</a:t>
            </a:r>
            <a:endParaRPr lang="en-US" sz="1500" dirty="0"/>
          </a:p>
        </p:txBody>
      </p:sp>
      <p:sp>
        <p:nvSpPr>
          <p:cNvPr id="6" name="Text 4"/>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7" name="Text 5"/>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28 · ARTICLE 5.3 — THE JULIE CONTRAST  (1/2)</a:t>
            </a:r>
            <a:endParaRPr lang="en-US" sz="1250" dirty="0"/>
          </a:p>
        </p:txBody>
      </p:sp>
      <p:sp>
        <p:nvSpPr>
          <p:cNvPr id="4" name="Text 2"/>
          <p:cNvSpPr/>
          <p:nvPr/>
        </p:nvSpPr>
        <p:spPr>
          <a:xfrm>
            <a:off x="502920" y="694944"/>
            <a:ext cx="11185855" cy="256032"/>
          </a:xfrm>
          <a:prstGeom prst="rect">
            <a:avLst/>
          </a:prstGeom>
          <a:noFill/>
          <a:ln/>
        </p:spPr>
        <p:txBody>
          <a:bodyPr wrap="square" rtlCol="0" anchor="ctr"/>
          <a:lstStyle/>
          <a:p>
            <a:pPr indent="0" marL="0">
              <a:buNone/>
            </a:pPr>
            <a:r>
              <a:rPr lang="en-US" sz="1200" i="1" dirty="0">
                <a:solidFill>
                  <a:srgbClr val="5A6B72"/>
                </a:solidFill>
                <a:latin typeface="Calibri" pitchFamily="34" charset="0"/>
                <a:ea typeface="Calibri" pitchFamily="34" charset="-122"/>
                <a:cs typeface="Calibri" pitchFamily="34" charset="-120"/>
              </a:rPr>
              <a:t>TARGET: People / Yahoo Life / Today</a:t>
            </a:r>
            <a:endParaRPr lang="en-US" sz="1200" dirty="0"/>
          </a:p>
        </p:txBody>
      </p:sp>
      <p:sp>
        <p:nvSpPr>
          <p:cNvPr id="5" name="Text 3"/>
          <p:cNvSpPr/>
          <p:nvPr/>
        </p:nvSpPr>
        <p:spPr>
          <a:xfrm>
            <a:off x="502920" y="969264"/>
            <a:ext cx="11185855" cy="755904"/>
          </a:xfrm>
          <a:prstGeom prst="rect">
            <a:avLst/>
          </a:prstGeom>
          <a:noFill/>
          <a:ln/>
        </p:spPr>
        <p:txBody>
          <a:bodyPr wrap="square" rtlCol="0" anchor="ctr"/>
          <a:lstStyle/>
          <a:p>
            <a:pPr indent="0" marL="0">
              <a:lnSpc>
                <a:spcPct val="102000"/>
              </a:lnSpc>
              <a:buNone/>
            </a:pPr>
            <a:r>
              <a:rPr lang="en-US" sz="2400" b="1" dirty="0">
                <a:solidFill>
                  <a:srgbClr val="13212B"/>
                </a:solidFill>
                <a:latin typeface="Georgia" pitchFamily="34" charset="0"/>
                <a:ea typeface="Georgia" pitchFamily="34" charset="-122"/>
                <a:cs typeface="Georgia" pitchFamily="34" charset="-120"/>
              </a:rPr>
              <a:t>Her $12-a-Day Routine Ranked Ahead of Bryan Johnson — Longevity Life Academy Teaches the Habits Behind It</a:t>
            </a:r>
            <a:endParaRPr lang="en-US" sz="2400" dirty="0"/>
          </a:p>
        </p:txBody>
      </p:sp>
      <p:sp>
        <p:nvSpPr>
          <p:cNvPr id="6" name="Text 4"/>
          <p:cNvSpPr/>
          <p:nvPr/>
        </p:nvSpPr>
        <p:spPr>
          <a:xfrm>
            <a:off x="502920" y="1743456"/>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Longevity Life Academy founding faculty member Julie Gibson Clark once ranked second in the Rejuvenation Olympics — ahead of Bryan Johnson — on a fraction of the budget. As Johnson faces a hard diagnosis, her story shows what consistency can do.</a:t>
            </a:r>
            <a:endParaRPr lang="en-US" sz="1400" dirty="0"/>
          </a:p>
        </p:txBody>
      </p:sp>
      <p:sp>
        <p:nvSpPr>
          <p:cNvPr id="7" name="Shape 5"/>
          <p:cNvSpPr/>
          <p:nvPr/>
        </p:nvSpPr>
        <p:spPr>
          <a:xfrm>
            <a:off x="502920" y="2279904"/>
            <a:ext cx="11185855" cy="0"/>
          </a:xfrm>
          <a:prstGeom prst="line">
            <a:avLst/>
          </a:prstGeom>
          <a:noFill/>
          <a:ln w="12700">
            <a:solidFill>
              <a:srgbClr val="D7DAD5"/>
            </a:solidFill>
            <a:prstDash val="solid"/>
          </a:ln>
        </p:spPr>
      </p:sp>
      <p:sp>
        <p:nvSpPr>
          <p:cNvPr id="8" name="Text 6"/>
          <p:cNvSpPr/>
          <p:nvPr/>
        </p:nvSpPr>
        <p:spPr>
          <a:xfrm>
            <a:off x="502920" y="2426208"/>
            <a:ext cx="11185855" cy="33528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FOR IMMEDIATE RELEASE</a:t>
            </a:r>
            <a:endParaRPr lang="en-US" sz="1500" dirty="0"/>
          </a:p>
        </p:txBody>
      </p:sp>
      <p:sp>
        <p:nvSpPr>
          <p:cNvPr id="9" name="Text 7"/>
          <p:cNvSpPr/>
          <p:nvPr/>
        </p:nvSpPr>
        <p:spPr>
          <a:xfrm>
            <a:off x="502920" y="2761488"/>
            <a:ext cx="11185855" cy="252984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longevity conversation is at an inflection point. Bryan Johnson, its most famous figure, recently shared that he has an incurable autoimmune condition — a sobering reminder that spending is not the same as certainty. Longevity Life Academy, eTeacher Group's sixth online school, offers a quieter counter-story that predates the news. Julie Gibson Clark, a 56-year-old single mother and former structural engineer from Phoenix, held the number-two position in the Rejuvenation Olympics for more than a year — ranking ahead of Johnson — while spending roughly $12 a day. Her DunedinPACE score of 0.665 indicated a pace of aging roughly a third slower than expected. She did it with sleep, nutrition, movement, and stress habits, kept consistently. That is precisely what Longevity Life Academy teaches, and why the company brought Julie on as founding faculty for its live masterclasses. The academy's 18-week course, taught in groups of 8–15 with an Abbott Lingo glucose monitor shipped to every US student, turns the fundamentals she lives by into a protocol any motivated adult can learn and keep.</a:t>
            </a:r>
            <a:endParaRPr lang="en-US" sz="1500" dirty="0"/>
          </a:p>
        </p:txBody>
      </p:sp>
      <p:sp>
        <p:nvSpPr>
          <p:cNvPr id="10" name="Text 8"/>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1" name="Text 9"/>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1 · SLIDE 28 · ARTICLE 5.3 — THE JULIE CONTRAST  (cont. 2/2)</a:t>
            </a:r>
            <a:endParaRPr lang="en-US" sz="1250" dirty="0"/>
          </a:p>
        </p:txBody>
      </p:sp>
      <p:sp>
        <p:nvSpPr>
          <p:cNvPr id="4" name="Text 2"/>
          <p:cNvSpPr/>
          <p:nvPr/>
        </p:nvSpPr>
        <p:spPr>
          <a:xfrm>
            <a:off x="502920" y="841248"/>
            <a:ext cx="11185855" cy="131064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point is not to diminish anyone's journey — Johnson's data-sharing has advanced the whole field. It is to show that the levers that matter most are affordable and learnable, and that a good teacher may matter more than a big budget. "Julie proved something we build our whole school around: the fundamentals, done consistently, are extraordinarily powerful — and they don't require a fortune," said CEO Harel Tayeb. "That is not a knock on anyone spending more. It is an invitation to everyone who assumed this was out of reach." Longevity Life Academy is enrolling now from $289 per month.</a:t>
            </a:r>
            <a:endParaRPr lang="en-US" sz="1500" dirty="0"/>
          </a:p>
        </p:txBody>
      </p:sp>
      <p:sp>
        <p:nvSpPr>
          <p:cNvPr id="5" name="Text 3"/>
          <p:cNvSpPr/>
          <p:nvPr/>
        </p:nvSpPr>
        <p:spPr>
          <a:xfrm>
            <a:off x="502920" y="2151888"/>
            <a:ext cx="11185855" cy="82296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HIGHLIGHTED QUOTE · HAREL TAYEB, CEO, eTeacher Group: "Julie proved something we build our whole school around: the fundamentals, done consistently, are extraordinarily powerful — and they don't require a fortune. That is not a knock on anyone spending more. It is an invitation to everyone who assumed this was out of reach."</a:t>
            </a:r>
            <a:endParaRPr lang="en-US" sz="1500" dirty="0"/>
          </a:p>
        </p:txBody>
      </p:sp>
      <p:sp>
        <p:nvSpPr>
          <p:cNvPr id="6" name="Text 4"/>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7" name="Text 5"/>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5A63"/>
        </a:solidFill>
      </p:bgPr>
    </p:bg>
    <p:spTree>
      <p:nvGrpSpPr>
        <p:cNvPr id="1" name=""/>
        <p:cNvGrpSpPr/>
        <p:nvPr/>
      </p:nvGrpSpPr>
      <p:grpSpPr>
        <a:xfrm>
          <a:off x="0" y="0"/>
          <a:ext cx="0" cy="0"/>
          <a:chOff x="0" y="0"/>
          <a:chExt cx="0" cy="0"/>
        </a:xfrm>
      </p:grpSpPr>
      <p:sp>
        <p:nvSpPr>
          <p:cNvPr id="2" name="Shape 0"/>
          <p:cNvSpPr/>
          <p:nvPr/>
        </p:nvSpPr>
        <p:spPr>
          <a:xfrm>
            <a:off x="0" y="2788920"/>
            <a:ext cx="12191695" cy="27432"/>
          </a:xfrm>
          <a:prstGeom prst="rect">
            <a:avLst/>
          </a:prstGeom>
          <a:solidFill>
            <a:srgbClr val="8FB8BD"/>
          </a:solidFill>
          <a:ln/>
        </p:spPr>
      </p:sp>
      <p:sp>
        <p:nvSpPr>
          <p:cNvPr id="3" name="Text 1"/>
          <p:cNvSpPr/>
          <p:nvPr/>
        </p:nvSpPr>
        <p:spPr>
          <a:xfrm>
            <a:off x="914400" y="1828800"/>
            <a:ext cx="10362895" cy="2011680"/>
          </a:xfrm>
          <a:prstGeom prst="rect">
            <a:avLst/>
          </a:prstGeom>
          <a:noFill/>
          <a:ln/>
        </p:spPr>
        <p:txBody>
          <a:bodyPr wrap="square"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PART 3 — DECK 2: LONGEVITY PR CAMPAIGN (COMBINED)</a:t>
            </a:r>
            <a:endParaRPr lang="en-US" sz="3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2 · SLIDE 24 · ARTICLE 2.2 — DAVID-VS-GOLIATH COST STORY  (1/2)</a:t>
            </a:r>
            <a:endParaRPr lang="en-US" sz="1250" dirty="0"/>
          </a:p>
        </p:txBody>
      </p:sp>
      <p:sp>
        <p:nvSpPr>
          <p:cNvPr id="4" name="Text 2"/>
          <p:cNvSpPr/>
          <p:nvPr/>
        </p:nvSpPr>
        <p:spPr>
          <a:xfrm>
            <a:off x="502920" y="694944"/>
            <a:ext cx="11185855" cy="256032"/>
          </a:xfrm>
          <a:prstGeom prst="rect">
            <a:avLst/>
          </a:prstGeom>
          <a:noFill/>
          <a:ln/>
        </p:spPr>
        <p:txBody>
          <a:bodyPr wrap="square" rtlCol="0" anchor="ctr"/>
          <a:lstStyle/>
          <a:p>
            <a:pPr indent="0" marL="0">
              <a:buNone/>
            </a:pPr>
            <a:r>
              <a:rPr lang="en-US" sz="1200" i="1" dirty="0">
                <a:solidFill>
                  <a:srgbClr val="5A6B72"/>
                </a:solidFill>
                <a:latin typeface="Calibri" pitchFamily="34" charset="0"/>
                <a:ea typeface="Calibri" pitchFamily="34" charset="-122"/>
                <a:cs typeface="Calibri" pitchFamily="34" charset="-120"/>
              </a:rPr>
              <a:t>WILL RUN IN: Business Insider / CNBC Make It</a:t>
            </a:r>
            <a:endParaRPr lang="en-US" sz="1200" dirty="0"/>
          </a:p>
        </p:txBody>
      </p:sp>
      <p:sp>
        <p:nvSpPr>
          <p:cNvPr id="5" name="Text 3"/>
          <p:cNvSpPr/>
          <p:nvPr/>
        </p:nvSpPr>
        <p:spPr>
          <a:xfrm>
            <a:off x="502920" y="969264"/>
            <a:ext cx="11185855" cy="670560"/>
          </a:xfrm>
          <a:prstGeom prst="rect">
            <a:avLst/>
          </a:prstGeom>
          <a:noFill/>
          <a:ln/>
        </p:spPr>
        <p:txBody>
          <a:bodyPr wrap="square" rtlCol="0" anchor="ctr"/>
          <a:lstStyle/>
          <a:p>
            <a:pPr indent="0" marL="0">
              <a:lnSpc>
                <a:spcPct val="102000"/>
              </a:lnSpc>
              <a:buNone/>
            </a:pPr>
            <a:r>
              <a:rPr lang="en-US" sz="2100" b="1" dirty="0">
                <a:solidFill>
                  <a:srgbClr val="13212B"/>
                </a:solidFill>
                <a:latin typeface="Georgia" pitchFamily="34" charset="0"/>
                <a:ea typeface="Georgia" pitchFamily="34" charset="-122"/>
                <a:cs typeface="Georgia" pitchFamily="34" charset="-120"/>
              </a:rPr>
              <a:t>Julie Gibson Clark Joins Longevity Life Academy by eTeacher Group — the Instructor Who Reached #2 in the World on About $12 a Day</a:t>
            </a:r>
            <a:endParaRPr lang="en-US" sz="2100" dirty="0"/>
          </a:p>
        </p:txBody>
      </p:sp>
      <p:sp>
        <p:nvSpPr>
          <p:cNvPr id="6" name="Text 4"/>
          <p:cNvSpPr/>
          <p:nvPr/>
        </p:nvSpPr>
        <p:spPr>
          <a:xfrm>
            <a:off x="502920" y="1658112"/>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Julie Gibson Clark's budget longevity results ranked her #2 in the world; now she's teaching the method inside a course that starts at $289 a month.</a:t>
            </a:r>
            <a:endParaRPr lang="en-US" sz="1400" dirty="0"/>
          </a:p>
        </p:txBody>
      </p:sp>
      <p:sp>
        <p:nvSpPr>
          <p:cNvPr id="7" name="Shape 5"/>
          <p:cNvSpPr/>
          <p:nvPr/>
        </p:nvSpPr>
        <p:spPr>
          <a:xfrm>
            <a:off x="502920" y="2194560"/>
            <a:ext cx="11185855" cy="0"/>
          </a:xfrm>
          <a:prstGeom prst="line">
            <a:avLst/>
          </a:prstGeom>
          <a:noFill/>
          <a:ln w="12700">
            <a:solidFill>
              <a:srgbClr val="D7DAD5"/>
            </a:solidFill>
            <a:prstDash val="solid"/>
          </a:ln>
        </p:spPr>
      </p:sp>
      <p:sp>
        <p:nvSpPr>
          <p:cNvPr id="8" name="Text 6"/>
          <p:cNvSpPr/>
          <p:nvPr/>
        </p:nvSpPr>
        <p:spPr>
          <a:xfrm>
            <a:off x="502920" y="234086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PHOENIX — Julie Gibson Clark became a global story for a simple, provocative reason: she achieved elite anti-aging results without an elite budget, ranking second worldwide on roughly $100–150 a month — about $12 a day — while Bryan Johnson reportedly spends around $2 million a year.</a:t>
            </a:r>
            <a:endParaRPr lang="en-US" sz="1500" dirty="0"/>
          </a:p>
        </p:txBody>
      </p:sp>
      <p:sp>
        <p:nvSpPr>
          <p:cNvPr id="9" name="Text 7"/>
          <p:cNvSpPr/>
          <p:nvPr/>
        </p:nvSpPr>
        <p:spPr>
          <a:xfrm>
            <a:off x="502920" y="3163824"/>
            <a:ext cx="11185855" cy="106680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Now that philosophy has an institution behind it. As a Longevity Life Academy instructor, Gibson Clark brings her low-cost, high-consistency method into an exclusive masterclass for LLA students — live small-group sessions of 8–15 — offered alongside the school's flagship program, which starts at $289 per month and includes an Abbott Lingo glucose monitor shipped to every US student.</a:t>
            </a:r>
            <a:endParaRPr lang="en-US" sz="1500" dirty="0"/>
          </a:p>
        </p:txBody>
      </p:sp>
      <p:sp>
        <p:nvSpPr>
          <p:cNvPr id="10" name="Text 8"/>
          <p:cNvSpPr/>
          <p:nvPr/>
        </p:nvSpPr>
        <p:spPr>
          <a:xfrm>
            <a:off x="502920" y="423062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For eTeacher, whose model already democratizes education across nearly 200 countries, Gibson Clark is a natural fit: living evidence that healthspan can be a mainstream purchase rather than a luxury service.</a:t>
            </a:r>
            <a:endParaRPr lang="en-US" sz="1500" dirty="0"/>
          </a:p>
        </p:txBody>
      </p:sp>
      <p:sp>
        <p:nvSpPr>
          <p:cNvPr id="11" name="Text 9"/>
          <p:cNvSpPr/>
          <p:nvPr/>
        </p:nvSpPr>
        <p:spPr>
          <a:xfrm>
            <a:off x="502920" y="480974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gap is the point. Her DunedinPACE score of 0.665 puts her among the slowest-aging people measured, yet her routine leans on inexpensive fundamentals: a pound of vegetables daily, 100–130g of protein, strength plus VO2-max and Zone 2 training, sauna and cold, 7–8 hours of sleep, and a roughly $79-a-month supplement stack.</a:t>
            </a:r>
            <a:endParaRPr lang="en-US" sz="1500" dirty="0"/>
          </a:p>
        </p:txBody>
      </p:sp>
      <p:sp>
        <p:nvSpPr>
          <p:cNvPr id="12" name="Text 10"/>
          <p:cNvSpPr/>
          <p:nvPr/>
        </p:nvSpPr>
        <p:spPr>
          <a:xfrm>
            <a:off x="502920" y="563270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"People assume aging well takes a fortune. It doesn't — it takes a few right habits and someone to show you which ones," Gibson Clark said. "The money was never the barrier; the missing piece was a teacher."</a:t>
            </a:r>
            <a:endParaRPr lang="en-US" sz="1500" dirty="0"/>
          </a:p>
        </p:txBody>
      </p:sp>
      <p:sp>
        <p:nvSpPr>
          <p:cNvPr id="13" name="Text 11"/>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4" name="Text 12"/>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2 · SLIDE 24 · ARTICLE 2.2 — DAVID-VS-GOLIATH COST STORY  (cont. 2/2)</a:t>
            </a:r>
            <a:endParaRPr lang="en-US" sz="1250" dirty="0"/>
          </a:p>
        </p:txBody>
      </p:sp>
      <p:sp>
        <p:nvSpPr>
          <p:cNvPr id="4" name="Text 2"/>
          <p:cNvSpPr/>
          <p:nvPr/>
        </p:nvSpPr>
        <p:spPr>
          <a:xfrm>
            <a:off x="502920" y="841248"/>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"We judge ourselves by results, and Julie's are the most persuasive case we could make — world-class outcomes reached on an ordinary family's budget," said CEO Harel Tayeb, adding that her cohorts are enrolling now.</a:t>
            </a:r>
            <a:endParaRPr lang="en-US" sz="1500" dirty="0"/>
          </a:p>
        </p:txBody>
      </p:sp>
      <p:sp>
        <p:nvSpPr>
          <p:cNvPr id="5" name="Text 3"/>
          <p:cNvSpPr/>
          <p:nvPr/>
        </p:nvSpPr>
        <p:spPr>
          <a:xfrm>
            <a:off x="502920" y="1420368"/>
            <a:ext cx="11185855" cy="57912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QUOTE · HAREL TAYEB, CEO, eTeacher Group: "We judge ourselves by results, and Julie's are the most persuasive case we could make — world-class outcomes reached on an ordinary family's budget."</a:t>
            </a:r>
            <a:endParaRPr lang="en-US" sz="1500" dirty="0"/>
          </a:p>
        </p:txBody>
      </p:sp>
      <p:sp>
        <p:nvSpPr>
          <p:cNvPr id="6" name="Text 4"/>
          <p:cNvSpPr/>
          <p:nvPr/>
        </p:nvSpPr>
        <p:spPr>
          <a:xfrm>
            <a:off x="502920" y="1999488"/>
            <a:ext cx="11185855" cy="57912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QUOTE · JULIE GIBSON CLARK, LLA Faculty: "People assume aging well takes a fortune. It doesn't — it takes a few right habits and someone to show you which ones. The money was never the barrier; the missing piece was a teacher."</a:t>
            </a:r>
            <a:endParaRPr lang="en-US" sz="1500" dirty="0"/>
          </a:p>
        </p:txBody>
      </p:sp>
      <p:sp>
        <p:nvSpPr>
          <p:cNvPr id="7" name="Text 5"/>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8" name="Text 6"/>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2 · SLIDE 26 · ARTICLE 2.4 — SCIENCE / DATA STORY  (1/2)</a:t>
            </a:r>
            <a:endParaRPr lang="en-US" sz="1250" dirty="0"/>
          </a:p>
        </p:txBody>
      </p:sp>
      <p:sp>
        <p:nvSpPr>
          <p:cNvPr id="4" name="Text 2"/>
          <p:cNvSpPr/>
          <p:nvPr/>
        </p:nvSpPr>
        <p:spPr>
          <a:xfrm>
            <a:off x="502920" y="694944"/>
            <a:ext cx="11185855" cy="256032"/>
          </a:xfrm>
          <a:prstGeom prst="rect">
            <a:avLst/>
          </a:prstGeom>
          <a:noFill/>
          <a:ln/>
        </p:spPr>
        <p:txBody>
          <a:bodyPr wrap="square" rtlCol="0" anchor="ctr"/>
          <a:lstStyle/>
          <a:p>
            <a:pPr indent="0" marL="0">
              <a:buNone/>
            </a:pPr>
            <a:r>
              <a:rPr lang="en-US" sz="1200" i="1" dirty="0">
                <a:solidFill>
                  <a:srgbClr val="5A6B72"/>
                </a:solidFill>
                <a:latin typeface="Calibri" pitchFamily="34" charset="0"/>
                <a:ea typeface="Calibri" pitchFamily="34" charset="-122"/>
                <a:cs typeface="Calibri" pitchFamily="34" charset="-120"/>
              </a:rPr>
              <a:t>WILL RUN IN: Longevity.Technology / Well+Good / Women's Health</a:t>
            </a:r>
            <a:endParaRPr lang="en-US" sz="1200" dirty="0"/>
          </a:p>
        </p:txBody>
      </p:sp>
      <p:sp>
        <p:nvSpPr>
          <p:cNvPr id="5" name="Text 3"/>
          <p:cNvSpPr/>
          <p:nvPr/>
        </p:nvSpPr>
        <p:spPr>
          <a:xfrm>
            <a:off x="502920" y="969264"/>
            <a:ext cx="11185855" cy="670560"/>
          </a:xfrm>
          <a:prstGeom prst="rect">
            <a:avLst/>
          </a:prstGeom>
          <a:noFill/>
          <a:ln/>
        </p:spPr>
        <p:txBody>
          <a:bodyPr wrap="square" rtlCol="0" anchor="ctr"/>
          <a:lstStyle/>
          <a:p>
            <a:pPr indent="0" marL="0">
              <a:lnSpc>
                <a:spcPct val="102000"/>
              </a:lnSpc>
              <a:buNone/>
            </a:pPr>
            <a:r>
              <a:rPr lang="en-US" sz="2100" b="1" dirty="0">
                <a:solidFill>
                  <a:srgbClr val="13212B"/>
                </a:solidFill>
                <a:latin typeface="Georgia" pitchFamily="34" charset="0"/>
                <a:ea typeface="Georgia" pitchFamily="34" charset="-122"/>
                <a:cs typeface="Georgia" pitchFamily="34" charset="-120"/>
              </a:rPr>
              <a:t>Julie Gibson Clark Joins Longevity Life Academy by eTeacher Group, Bringing the Science Behind Her 0.665 DunedinPACE Score to Its Students</a:t>
            </a:r>
            <a:endParaRPr lang="en-US" sz="2100" dirty="0"/>
          </a:p>
        </p:txBody>
      </p:sp>
      <p:sp>
        <p:nvSpPr>
          <p:cNvPr id="6" name="Text 4"/>
          <p:cNvSpPr/>
          <p:nvPr/>
        </p:nvSpPr>
        <p:spPr>
          <a:xfrm>
            <a:off x="502920" y="1658112"/>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Her biomarker data suggests she ages about 34% slower than average; at Longevity Life Academy she'll teach the strength, protein, and VO2-max fundamentals behind it.</a:t>
            </a:r>
            <a:endParaRPr lang="en-US" sz="1400" dirty="0"/>
          </a:p>
        </p:txBody>
      </p:sp>
      <p:sp>
        <p:nvSpPr>
          <p:cNvPr id="7" name="Shape 5"/>
          <p:cNvSpPr/>
          <p:nvPr/>
        </p:nvSpPr>
        <p:spPr>
          <a:xfrm>
            <a:off x="502920" y="2194560"/>
            <a:ext cx="11185855" cy="0"/>
          </a:xfrm>
          <a:prstGeom prst="line">
            <a:avLst/>
          </a:prstGeom>
          <a:noFill/>
          <a:ln w="12700">
            <a:solidFill>
              <a:srgbClr val="D7DAD5"/>
            </a:solidFill>
            <a:prstDash val="solid"/>
          </a:ln>
        </p:spPr>
      </p:sp>
      <p:sp>
        <p:nvSpPr>
          <p:cNvPr id="8" name="Text 6"/>
          <p:cNvSpPr/>
          <p:nvPr/>
        </p:nvSpPr>
        <p:spPr>
          <a:xfrm>
            <a:off x="502920" y="234086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PHOENIX — The number that made Julie Gibson Clark famous is a DunedinPACE score of 0.665 — a measure of the pace of biological aging suggesting she ages roughly 65 days for every 100, or about 34% slower than average. She now brings the science behind that number to Longevity Life Academy.</a:t>
            </a:r>
            <a:endParaRPr lang="en-US" sz="1500" dirty="0"/>
          </a:p>
        </p:txBody>
      </p:sp>
      <p:sp>
        <p:nvSpPr>
          <p:cNvPr id="9" name="Text 7"/>
          <p:cNvSpPr/>
          <p:nvPr/>
        </p:nvSpPr>
        <p:spPr>
          <a:xfrm>
            <a:off x="502920" y="316382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That evidence-based, data-driven approach maps directly onto LLA's method, which puts an Abbott Lingo continuous glucose monitor in every student's hands before Lesson 5 and teaches them to read glucose, HRV, and sleep as a live feedback loop across the six pillars.</a:t>
            </a:r>
            <a:endParaRPr lang="en-US" sz="1500" dirty="0"/>
          </a:p>
        </p:txBody>
      </p:sp>
      <p:sp>
        <p:nvSpPr>
          <p:cNvPr id="10" name="Text 8"/>
          <p:cNvSpPr/>
          <p:nvPr/>
        </p:nvSpPr>
        <p:spPr>
          <a:xfrm>
            <a:off x="502920" y="398678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It matters because it reframes the debate. Gibson Clark, 56, reached that result not through exotic interventions but through measurable, repeatable fundamentals: strength training, 100–130g of protein daily, VO2-max work via the Norwegian 4x4 protocol plus Zone 2, sauna and cold exposure, and 7–8 hours of sleep.</a:t>
            </a:r>
            <a:endParaRPr lang="en-US" sz="1500" dirty="0"/>
          </a:p>
        </p:txBody>
      </p:sp>
      <p:sp>
        <p:nvSpPr>
          <p:cNvPr id="11" name="Text 9"/>
          <p:cNvSpPr/>
          <p:nvPr/>
        </p:nvSpPr>
        <p:spPr>
          <a:xfrm>
            <a:off x="502920" y="480974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Her focus areas align with the curriculum's Exercise &amp; Movement, Nutrition, Sleep, and Stress Management pillars — alongside named instructors such as UC Santa Barbara senior lecturer and NASM-certified trainer Amy Jamieson — grounding the program in verifiable outcomes rather than trends.</a:t>
            </a:r>
            <a:endParaRPr lang="en-US" sz="1500" dirty="0"/>
          </a:p>
        </p:txBody>
      </p:sp>
      <p:sp>
        <p:nvSpPr>
          <p:cNvPr id="12" name="Text 10"/>
          <p:cNvSpPr/>
          <p:nvPr/>
        </p:nvSpPr>
        <p:spPr>
          <a:xfrm>
            <a:off x="502920" y="563270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flashiest thing I do is eat well, move, and sleep — the lab numbers just proved the boring basics were working all along," Gibson Clark said. "That's the part I can't wait to teach."</a:t>
            </a:r>
            <a:endParaRPr lang="en-US" sz="1500" dirty="0"/>
          </a:p>
        </p:txBody>
      </p:sp>
      <p:sp>
        <p:nvSpPr>
          <p:cNvPr id="13" name="Text 11"/>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4" name="Text 12"/>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2 · SLIDE 26 · ARTICLE 2.4 — SCIENCE / DATA STORY  (cont. 2/2)</a:t>
            </a:r>
            <a:endParaRPr lang="en-US" sz="1250" dirty="0"/>
          </a:p>
        </p:txBody>
      </p:sp>
      <p:sp>
        <p:nvSpPr>
          <p:cNvPr id="4" name="Text 2"/>
          <p:cNvSpPr/>
          <p:nvPr/>
        </p:nvSpPr>
        <p:spPr>
          <a:xfrm>
            <a:off x="502920" y="841248"/>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eTeacher says a dedicated Biomarkers &amp; Advanced Wearables course is on its roadmap, extending the data-first teaching Gibson Clark exemplifies.</a:t>
            </a:r>
            <a:endParaRPr lang="en-US" sz="1500" dirty="0"/>
          </a:p>
        </p:txBody>
      </p:sp>
      <p:sp>
        <p:nvSpPr>
          <p:cNvPr id="5" name="Text 3"/>
          <p:cNvSpPr/>
          <p:nvPr/>
        </p:nvSpPr>
        <p:spPr>
          <a:xfrm>
            <a:off x="502920" y="1420368"/>
            <a:ext cx="11185855" cy="57912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KEY QUOTE TO LEAD THE PITCH · JULIE GIBSON CLARK, LLA Faculty: "The flashiest thing I do is eat well, move, and sleep — the lab numbers just proved the boring basics were working all along. That's the part I can't wait to teach."</a:t>
            </a:r>
            <a:endParaRPr lang="en-US" sz="1500" dirty="0"/>
          </a:p>
        </p:txBody>
      </p:sp>
      <p:sp>
        <p:nvSpPr>
          <p:cNvPr id="6" name="Text 4"/>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7" name="Text 5"/>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2 · SLIDE 27 · ARTICLE 2.5 — ACCESSIBLE-LONGEVITY MISSION FIT  (1/2)</a:t>
            </a:r>
            <a:endParaRPr lang="en-US" sz="1250" dirty="0"/>
          </a:p>
        </p:txBody>
      </p:sp>
      <p:sp>
        <p:nvSpPr>
          <p:cNvPr id="4" name="Text 2"/>
          <p:cNvSpPr/>
          <p:nvPr/>
        </p:nvSpPr>
        <p:spPr>
          <a:xfrm>
            <a:off x="502920" y="694944"/>
            <a:ext cx="11185855" cy="256032"/>
          </a:xfrm>
          <a:prstGeom prst="rect">
            <a:avLst/>
          </a:prstGeom>
          <a:noFill/>
          <a:ln/>
        </p:spPr>
        <p:txBody>
          <a:bodyPr wrap="square" rtlCol="0" anchor="ctr"/>
          <a:lstStyle/>
          <a:p>
            <a:pPr indent="0" marL="0">
              <a:buNone/>
            </a:pPr>
            <a:r>
              <a:rPr lang="en-US" sz="1200" i="1" dirty="0">
                <a:solidFill>
                  <a:srgbClr val="5A6B72"/>
                </a:solidFill>
                <a:latin typeface="Calibri" pitchFamily="34" charset="0"/>
                <a:ea typeface="Calibri" pitchFamily="34" charset="-122"/>
                <a:cs typeface="Calibri" pitchFamily="34" charset="-120"/>
              </a:rPr>
              <a:t>WILL RUN IN: Fast Company / TIME / The Atlantic (contributed)</a:t>
            </a:r>
            <a:endParaRPr lang="en-US" sz="1200" dirty="0"/>
          </a:p>
        </p:txBody>
      </p:sp>
      <p:sp>
        <p:nvSpPr>
          <p:cNvPr id="5" name="Text 3"/>
          <p:cNvSpPr/>
          <p:nvPr/>
        </p:nvSpPr>
        <p:spPr>
          <a:xfrm>
            <a:off x="502920" y="969264"/>
            <a:ext cx="11185855" cy="670560"/>
          </a:xfrm>
          <a:prstGeom prst="rect">
            <a:avLst/>
          </a:prstGeom>
          <a:noFill/>
          <a:ln/>
        </p:spPr>
        <p:txBody>
          <a:bodyPr wrap="square" rtlCol="0" anchor="ctr"/>
          <a:lstStyle/>
          <a:p>
            <a:pPr indent="0" marL="0">
              <a:lnSpc>
                <a:spcPct val="102000"/>
              </a:lnSpc>
              <a:buNone/>
            </a:pPr>
            <a:r>
              <a:rPr lang="en-US" sz="2100" b="1" dirty="0">
                <a:solidFill>
                  <a:srgbClr val="13212B"/>
                </a:solidFill>
                <a:latin typeface="Georgia" pitchFamily="34" charset="0"/>
                <a:ea typeface="Georgia" pitchFamily="34" charset="-122"/>
                <a:cs typeface="Georgia" pitchFamily="34" charset="-120"/>
              </a:rPr>
              <a:t>Julie Gibson Clark Joins Longevity Life Academy by eTeacher Group to Make Elite Longevity Accessible to Everyday Households</a:t>
            </a:r>
            <a:endParaRPr lang="en-US" sz="2100" dirty="0"/>
          </a:p>
        </p:txBody>
      </p:sp>
      <p:sp>
        <p:nvSpPr>
          <p:cNvPr id="6" name="Text 4"/>
          <p:cNvSpPr/>
          <p:nvPr/>
        </p:nvSpPr>
        <p:spPr>
          <a:xfrm>
            <a:off x="502920" y="1658112"/>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An accessible-longevity advocate on $12 a day and a 25-year education company are betting healthspan can be democratized — in an $8 trillion market that mostly serves the wealthy.</a:t>
            </a:r>
            <a:endParaRPr lang="en-US" sz="1400" dirty="0"/>
          </a:p>
        </p:txBody>
      </p:sp>
      <p:sp>
        <p:nvSpPr>
          <p:cNvPr id="7" name="Shape 5"/>
          <p:cNvSpPr/>
          <p:nvPr/>
        </p:nvSpPr>
        <p:spPr>
          <a:xfrm>
            <a:off x="502920" y="2194560"/>
            <a:ext cx="11185855" cy="0"/>
          </a:xfrm>
          <a:prstGeom prst="line">
            <a:avLst/>
          </a:prstGeom>
          <a:noFill/>
          <a:ln w="12700">
            <a:solidFill>
              <a:srgbClr val="D7DAD5"/>
            </a:solidFill>
            <a:prstDash val="solid"/>
          </a:ln>
        </p:spPr>
      </p:sp>
      <p:sp>
        <p:nvSpPr>
          <p:cNvPr id="8" name="Text 6"/>
          <p:cNvSpPr/>
          <p:nvPr/>
        </p:nvSpPr>
        <p:spPr>
          <a:xfrm>
            <a:off x="502920" y="234086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PHOENIX — The promise of longevity science risks becoming a privilege of the wealthy. The partnership between Julie Gibson Clark and eTeacher's Longevity Life Academy is a deliberate bet against that outcome — pairing a practitioner who ranked #2 in the world on about $12 a day with a platform that already teaches across nearly 200 countries.</a:t>
            </a:r>
            <a:endParaRPr lang="en-US" sz="1500" dirty="0"/>
          </a:p>
        </p:txBody>
      </p:sp>
      <p:sp>
        <p:nvSpPr>
          <p:cNvPr id="9" name="Text 7"/>
          <p:cNvSpPr/>
          <p:nvPr/>
        </p:nvSpPr>
        <p:spPr>
          <a:xfrm>
            <a:off x="502920" y="316382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LLA operationalizes that counterexample. By combining a relatable, low-cost instructor with a proven live-education model — small cohorts of 8–15, an included Abbott Lingo glucose monitor, tuition from $289 a month — it aims to make personalized longevity available to mainstream American families.</a:t>
            </a:r>
            <a:endParaRPr lang="en-US" sz="1500" dirty="0"/>
          </a:p>
        </p:txBody>
      </p:sp>
      <p:sp>
        <p:nvSpPr>
          <p:cNvPr id="10" name="Text 8"/>
          <p:cNvSpPr/>
          <p:nvPr/>
        </p:nvSpPr>
        <p:spPr>
          <a:xfrm>
            <a:off x="502920" y="398678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thesis is simple and testable: if millions can learn a language online in small live classes, millions can learn to extend their healthspan the same way, taught by named instructors and grounded in their own data.</a:t>
            </a:r>
            <a:endParaRPr lang="en-US" sz="1500" dirty="0"/>
          </a:p>
        </p:txBody>
      </p:sp>
      <p:sp>
        <p:nvSpPr>
          <p:cNvPr id="11" name="Text 9"/>
          <p:cNvSpPr/>
          <p:nvPr/>
        </p:nvSpPr>
        <p:spPr>
          <a:xfrm>
            <a:off x="502920" y="456590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stakes are set by the market itself: UBS projects longevity will reach $8 trillion by 2030, yet its most visible offerings remain concierge clinics and $2-million-a-year regimens. Gibson Clark's story is the counterexample the category needs — elite results built from affordable fundamentals.</a:t>
            </a:r>
            <a:endParaRPr lang="en-US" sz="1500" dirty="0"/>
          </a:p>
        </p:txBody>
      </p:sp>
      <p:sp>
        <p:nvSpPr>
          <p:cNvPr id="12" name="Text 10"/>
          <p:cNvSpPr/>
          <p:nvPr/>
        </p:nvSpPr>
        <p:spPr>
          <a:xfrm>
            <a:off x="502920" y="538886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"Aging well isn't complicated or expensive; it's a few fundamentals done consistently," Gibson Clark said. "I don't want to add one more thing to your day — I want to make longevity simple enough that any household can start tomorrow."</a:t>
            </a:r>
            <a:endParaRPr lang="en-US" sz="1500" dirty="0"/>
          </a:p>
        </p:txBody>
      </p:sp>
      <p:sp>
        <p:nvSpPr>
          <p:cNvPr id="13" name="Text 11"/>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4" name="Text 12"/>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2 · SLIDE 27 · ARTICLE 2.5 — ACCESSIBLE-LONGEVITY MISSION FIT  (cont. 2/2)</a:t>
            </a:r>
            <a:endParaRPr lang="en-US" sz="1250" dirty="0"/>
          </a:p>
        </p:txBody>
      </p:sp>
      <p:sp>
        <p:nvSpPr>
          <p:cNvPr id="4" name="Text 2"/>
          <p:cNvSpPr/>
          <p:nvPr/>
        </p:nvSpPr>
        <p:spPr>
          <a:xfrm>
            <a:off x="502920" y="841248"/>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"We want to make accessible content with meaning that will touch the heart and the human core of each person," added CEO Harel Tayeb.</a:t>
            </a:r>
            <a:endParaRPr lang="en-US" sz="1500" dirty="0"/>
          </a:p>
        </p:txBody>
      </p:sp>
      <p:sp>
        <p:nvSpPr>
          <p:cNvPr id="5" name="Text 3"/>
          <p:cNvSpPr/>
          <p:nvPr/>
        </p:nvSpPr>
        <p:spPr>
          <a:xfrm>
            <a:off x="502920" y="1420368"/>
            <a:ext cx="11185855" cy="57912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QUOTE · HAREL TAYEB, CEO, eTeacher Group: "We want to make accessible content with meaning that will touch the heart and the human core of each person."</a:t>
            </a:r>
            <a:endParaRPr lang="en-US" sz="1500" dirty="0"/>
          </a:p>
        </p:txBody>
      </p:sp>
      <p:sp>
        <p:nvSpPr>
          <p:cNvPr id="6" name="Text 4"/>
          <p:cNvSpPr/>
          <p:nvPr/>
        </p:nvSpPr>
        <p:spPr>
          <a:xfrm>
            <a:off x="502920" y="1999488"/>
            <a:ext cx="11185855" cy="82296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QUOTE · JULIE GIBSON CLARK, LLA Faculty: "Aging well isn't complicated or expensive; it's a few fundamentals done consistently. I don't want to add one more thing to your day — I want to make longevity simple enough that any household can start tomorrow."</a:t>
            </a:r>
            <a:endParaRPr lang="en-US" sz="1500" dirty="0"/>
          </a:p>
        </p:txBody>
      </p:sp>
      <p:sp>
        <p:nvSpPr>
          <p:cNvPr id="7" name="Text 5"/>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8" name="Text 6"/>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2 · SLIDE 28 · ARTICLE 2.6 — HER CURRICULUM CONTRIBUTION  (1/2)</a:t>
            </a:r>
            <a:endParaRPr lang="en-US" sz="1250" dirty="0"/>
          </a:p>
        </p:txBody>
      </p:sp>
      <p:sp>
        <p:nvSpPr>
          <p:cNvPr id="4" name="Text 2"/>
          <p:cNvSpPr/>
          <p:nvPr/>
        </p:nvSpPr>
        <p:spPr>
          <a:xfrm>
            <a:off x="502920" y="694944"/>
            <a:ext cx="11185855" cy="256032"/>
          </a:xfrm>
          <a:prstGeom prst="rect">
            <a:avLst/>
          </a:prstGeom>
          <a:noFill/>
          <a:ln/>
        </p:spPr>
        <p:txBody>
          <a:bodyPr wrap="square" rtlCol="0" anchor="ctr"/>
          <a:lstStyle/>
          <a:p>
            <a:pPr indent="0" marL="0">
              <a:buNone/>
            </a:pPr>
            <a:r>
              <a:rPr lang="en-US" sz="1200" i="1" dirty="0">
                <a:solidFill>
                  <a:srgbClr val="5A6B72"/>
                </a:solidFill>
                <a:latin typeface="Calibri" pitchFamily="34" charset="0"/>
                <a:ea typeface="Calibri" pitchFamily="34" charset="-122"/>
                <a:cs typeface="Calibri" pitchFamily="34" charset="-120"/>
              </a:rPr>
              <a:t>WILL RUN IN: Well+Good / Women's Health / mindbodygreen</a:t>
            </a:r>
            <a:endParaRPr lang="en-US" sz="1200" dirty="0"/>
          </a:p>
        </p:txBody>
      </p:sp>
      <p:sp>
        <p:nvSpPr>
          <p:cNvPr id="5" name="Text 3"/>
          <p:cNvSpPr/>
          <p:nvPr/>
        </p:nvSpPr>
        <p:spPr>
          <a:xfrm>
            <a:off x="502920" y="969264"/>
            <a:ext cx="11185855" cy="670560"/>
          </a:xfrm>
          <a:prstGeom prst="rect">
            <a:avLst/>
          </a:prstGeom>
          <a:noFill/>
          <a:ln/>
        </p:spPr>
        <p:txBody>
          <a:bodyPr wrap="square" rtlCol="0" anchor="ctr"/>
          <a:lstStyle/>
          <a:p>
            <a:pPr indent="0" marL="0">
              <a:lnSpc>
                <a:spcPct val="102000"/>
              </a:lnSpc>
              <a:buNone/>
            </a:pPr>
            <a:r>
              <a:rPr lang="en-US" sz="2100" b="1" dirty="0">
                <a:solidFill>
                  <a:srgbClr val="13212B"/>
                </a:solidFill>
                <a:latin typeface="Georgia" pitchFamily="34" charset="0"/>
                <a:ea typeface="Georgia" pitchFamily="34" charset="-122"/>
                <a:cs typeface="Georgia" pitchFamily="34" charset="-120"/>
              </a:rPr>
              <a:t>Julie Gibson Clark Joins Longevity Life Academy by eTeacher Group to Lead an Exclusive Masterclass for Its Students</a:t>
            </a:r>
            <a:endParaRPr lang="en-US" sz="2100" dirty="0"/>
          </a:p>
        </p:txBody>
      </p:sp>
      <p:sp>
        <p:nvSpPr>
          <p:cNvPr id="6" name="Text 4"/>
          <p:cNvSpPr/>
          <p:nvPr/>
        </p:nvSpPr>
        <p:spPr>
          <a:xfrm>
            <a:off x="502920" y="1658112"/>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The recruiter who held the Rejuvenation Olympics #2 spot for over a year joins Longevity Life Academy to teach strength, protein, and sleep as the trainable foundations of a longer life.</a:t>
            </a:r>
            <a:endParaRPr lang="en-US" sz="1400" dirty="0"/>
          </a:p>
        </p:txBody>
      </p:sp>
      <p:sp>
        <p:nvSpPr>
          <p:cNvPr id="7" name="Shape 5"/>
          <p:cNvSpPr/>
          <p:nvPr/>
        </p:nvSpPr>
        <p:spPr>
          <a:xfrm>
            <a:off x="502920" y="2194560"/>
            <a:ext cx="11185855" cy="0"/>
          </a:xfrm>
          <a:prstGeom prst="line">
            <a:avLst/>
          </a:prstGeom>
          <a:noFill/>
          <a:ln w="12700">
            <a:solidFill>
              <a:srgbClr val="D7DAD5"/>
            </a:solidFill>
            <a:prstDash val="solid"/>
          </a:ln>
        </p:spPr>
      </p:sp>
      <p:sp>
        <p:nvSpPr>
          <p:cNvPr id="8" name="Text 6"/>
          <p:cNvSpPr/>
          <p:nvPr/>
        </p:nvSpPr>
        <p:spPr>
          <a:xfrm>
            <a:off x="502920" y="234086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PHOENIX — As Julie Gibson Clark joins Longevity Life Academy's live faculty, the practical question is what, exactly, she'll teach — and the answer mirrors the routine that made her a global story: build one sustainable habit at a time until it becomes automatic.</a:t>
            </a:r>
            <a:endParaRPr lang="en-US" sz="1500" dirty="0"/>
          </a:p>
        </p:txBody>
      </p:sp>
      <p:sp>
        <p:nvSpPr>
          <p:cNvPr id="9" name="Text 7"/>
          <p:cNvSpPr/>
          <p:nvPr/>
        </p:nvSpPr>
        <p:spPr>
          <a:xfrm>
            <a:off x="502920" y="316382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In her exclusive masterclass for LLA students, she'll guide small live groups of 8–15 from first principles through reading their own data — including the Abbott Lingo glucose monitor each student receives before Lesson 5 — to a written protocol tested against their own biology.</a:t>
            </a:r>
            <a:endParaRPr lang="en-US" sz="1500" dirty="0"/>
          </a:p>
        </p:txBody>
      </p:sp>
      <p:sp>
        <p:nvSpPr>
          <p:cNvPr id="10" name="Text 8"/>
          <p:cNvSpPr/>
          <p:nvPr/>
        </p:nvSpPr>
        <p:spPr>
          <a:xfrm>
            <a:off x="502920" y="398678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She joins a named faculty that includes longevity researcher Natalie Blackbourne, integrative nutrition coach Courtney Donofrio, and behavioral specialist Jordan Lattimore, adding a practitioner's real-world track record to their academic credentials.</a:t>
            </a:r>
            <a:endParaRPr lang="en-US" sz="1500" dirty="0"/>
          </a:p>
        </p:txBody>
      </p:sp>
      <p:sp>
        <p:nvSpPr>
          <p:cNvPr id="11" name="Text 9"/>
          <p:cNvSpPr/>
          <p:nvPr/>
        </p:nvSpPr>
        <p:spPr>
          <a:xfrm>
            <a:off x="502920" y="480974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Her curriculum contribution slots directly into LLA's six pillars. Gibson Clark's expertise — strength training, 100–130g of protein daily, VO2-max and Zone 2 conditioning, sauna and cold, and disciplined 7–8-hour sleep — maps onto the Exercise &amp; Movement, Nutrition, Sleep, and Stress Management pillars of the 18-week program.</a:t>
            </a:r>
            <a:endParaRPr lang="en-US" sz="1500" dirty="0"/>
          </a:p>
        </p:txBody>
      </p:sp>
      <p:sp>
        <p:nvSpPr>
          <p:cNvPr id="12" name="Text 10"/>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3" name="Text 11"/>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2 · SLIDE 28 · ARTICLE 2.6 — HER CURRICULUM CONTRIBUTION  (cont. 2/2)</a:t>
            </a:r>
            <a:endParaRPr lang="en-US" sz="1250" dirty="0"/>
          </a:p>
        </p:txBody>
      </p:sp>
      <p:sp>
        <p:nvSpPr>
          <p:cNvPr id="4" name="Text 2"/>
          <p:cNvSpPr/>
          <p:nvPr/>
        </p:nvSpPr>
        <p:spPr>
          <a:xfrm>
            <a:off x="502920" y="841248"/>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"I teach the way I live: pick one small habit and repeat it until it's automatic, then add the next," Gibson Clark said of her teaching approach. "In a small class we build that stack together, week by week, so no one is leaning on willpower alone."</a:t>
            </a:r>
            <a:endParaRPr lang="en-US" sz="1500" dirty="0"/>
          </a:p>
        </p:txBody>
      </p:sp>
      <p:sp>
        <p:nvSpPr>
          <p:cNvPr id="5" name="Text 3"/>
          <p:cNvSpPr/>
          <p:nvPr/>
        </p:nvSpPr>
        <p:spPr>
          <a:xfrm>
            <a:off x="502920" y="1664208"/>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eTeacher says a continuation course, Longevity Blueprint 2, is on the roadmap, giving graduates a next step in the same live, cohort-based format.</a:t>
            </a:r>
            <a:endParaRPr lang="en-US" sz="1500" dirty="0"/>
          </a:p>
        </p:txBody>
      </p:sp>
      <p:sp>
        <p:nvSpPr>
          <p:cNvPr id="6" name="Text 4"/>
          <p:cNvSpPr/>
          <p:nvPr/>
        </p:nvSpPr>
        <p:spPr>
          <a:xfrm>
            <a:off x="502920" y="2243328"/>
            <a:ext cx="11185855" cy="82296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KEY QUOTE TO LEAD THE PITCH · JULIE GIBSON CLARK, LLA Faculty: "I teach the way I live: pick one small habit and repeat it until it's automatic, then add the next. In a small class we build that stack together, week by week, so no one is leaning on willpower alone."</a:t>
            </a:r>
            <a:endParaRPr lang="en-US" sz="1500" dirty="0"/>
          </a:p>
        </p:txBody>
      </p:sp>
      <p:sp>
        <p:nvSpPr>
          <p:cNvPr id="7" name="Text 5"/>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8" name="Text 6"/>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2 · SLIDE 29 · ARTICLE 2.7 — BROADCAST SEGMENT PITCH  (1/2)</a:t>
            </a:r>
            <a:endParaRPr lang="en-US" sz="1250" dirty="0"/>
          </a:p>
        </p:txBody>
      </p:sp>
      <p:sp>
        <p:nvSpPr>
          <p:cNvPr id="4" name="Text 2"/>
          <p:cNvSpPr/>
          <p:nvPr/>
        </p:nvSpPr>
        <p:spPr>
          <a:xfrm>
            <a:off x="502920" y="694944"/>
            <a:ext cx="11185855" cy="256032"/>
          </a:xfrm>
          <a:prstGeom prst="rect">
            <a:avLst/>
          </a:prstGeom>
          <a:noFill/>
          <a:ln/>
        </p:spPr>
        <p:txBody>
          <a:bodyPr wrap="square" rtlCol="0" anchor="ctr"/>
          <a:lstStyle/>
          <a:p>
            <a:pPr indent="0" marL="0">
              <a:buNone/>
            </a:pPr>
            <a:r>
              <a:rPr lang="en-US" sz="1200" i="1" dirty="0">
                <a:solidFill>
                  <a:srgbClr val="5A6B72"/>
                </a:solidFill>
                <a:latin typeface="Calibri" pitchFamily="34" charset="0"/>
                <a:ea typeface="Calibri" pitchFamily="34" charset="-122"/>
                <a:cs typeface="Calibri" pitchFamily="34" charset="-120"/>
              </a:rPr>
              <a:t>WILL RUN IN: Fox News Health / Good Morning America / network AM shows</a:t>
            </a:r>
            <a:endParaRPr lang="en-US" sz="1200" dirty="0"/>
          </a:p>
        </p:txBody>
      </p:sp>
      <p:sp>
        <p:nvSpPr>
          <p:cNvPr id="5" name="Text 3"/>
          <p:cNvSpPr/>
          <p:nvPr/>
        </p:nvSpPr>
        <p:spPr>
          <a:xfrm>
            <a:off x="502920" y="969264"/>
            <a:ext cx="11185855" cy="670560"/>
          </a:xfrm>
          <a:prstGeom prst="rect">
            <a:avLst/>
          </a:prstGeom>
          <a:noFill/>
          <a:ln/>
        </p:spPr>
        <p:txBody>
          <a:bodyPr wrap="square" rtlCol="0" anchor="ctr"/>
          <a:lstStyle/>
          <a:p>
            <a:pPr indent="0" marL="0">
              <a:lnSpc>
                <a:spcPct val="102000"/>
              </a:lnSpc>
              <a:buNone/>
            </a:pPr>
            <a:r>
              <a:rPr lang="en-US" sz="2100" b="1" dirty="0">
                <a:solidFill>
                  <a:srgbClr val="13212B"/>
                </a:solidFill>
                <a:latin typeface="Georgia" pitchFamily="34" charset="0"/>
                <a:ea typeface="Georgia" pitchFamily="34" charset="-122"/>
                <a:cs typeface="Georgia" pitchFamily="34" charset="-120"/>
              </a:rPr>
              <a:t>Julie Gibson Clark Joins Longevity Life Academy by eTeacher Group — Now Teaching Americans How to Age Slower, Live</a:t>
            </a:r>
            <a:endParaRPr lang="en-US" sz="2100" dirty="0"/>
          </a:p>
        </p:txBody>
      </p:sp>
      <p:sp>
        <p:nvSpPr>
          <p:cNvPr id="6" name="Text 4"/>
          <p:cNvSpPr/>
          <p:nvPr/>
        </p:nvSpPr>
        <p:spPr>
          <a:xfrm>
            <a:off x="502920" y="1658112"/>
            <a:ext cx="11185855" cy="481584"/>
          </a:xfrm>
          <a:prstGeom prst="rect">
            <a:avLst/>
          </a:prstGeom>
          <a:noFill/>
          <a:ln/>
        </p:spPr>
        <p:txBody>
          <a:bodyPr wrap="square" rtlCol="0" anchor="ctr"/>
          <a:lstStyle/>
          <a:p>
            <a:pPr indent="0" marL="0">
              <a:lnSpc>
                <a:spcPct val="105000"/>
              </a:lnSpc>
              <a:buNone/>
            </a:pPr>
            <a:r>
              <a:rPr lang="en-US" sz="1400" i="1" dirty="0">
                <a:solidFill>
                  <a:srgbClr val="1C7A85"/>
                </a:solidFill>
                <a:latin typeface="Calibri" pitchFamily="34" charset="0"/>
                <a:ea typeface="Calibri" pitchFamily="34" charset="-122"/>
                <a:cs typeface="Calibri" pitchFamily="34" charset="-120"/>
              </a:rPr>
              <a:t>A ready-made morning-show segment: a $12-a-day routine that beat a $2-million budget, a glucose-monitor demo, and daily rituals viewers can start today.</a:t>
            </a:r>
            <a:endParaRPr lang="en-US" sz="1400" dirty="0"/>
          </a:p>
        </p:txBody>
      </p:sp>
      <p:sp>
        <p:nvSpPr>
          <p:cNvPr id="7" name="Shape 5"/>
          <p:cNvSpPr/>
          <p:nvPr/>
        </p:nvSpPr>
        <p:spPr>
          <a:xfrm>
            <a:off x="502920" y="2194560"/>
            <a:ext cx="11185855" cy="0"/>
          </a:xfrm>
          <a:prstGeom prst="line">
            <a:avLst/>
          </a:prstGeom>
          <a:noFill/>
          <a:ln w="12700">
            <a:solidFill>
              <a:srgbClr val="D7DAD5"/>
            </a:solidFill>
            <a:prstDash val="solid"/>
          </a:ln>
        </p:spPr>
      </p:sp>
      <p:sp>
        <p:nvSpPr>
          <p:cNvPr id="8" name="Text 6"/>
          <p:cNvSpPr/>
          <p:nvPr/>
        </p:nvSpPr>
        <p:spPr>
          <a:xfrm>
            <a:off x="502920" y="234086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PHOENIX — Julie Gibson Clark's story is tailor-made for broadcast: a 56-year-old Phoenix single mom and former structural engineer who ranked #2 on a global longevity leaderboard — ahead of Bryan Johnson — on roughly $100–150 a month, and who has now taken a live teaching role at eTeacher's Longevity Life Academy.</a:t>
            </a:r>
            <a:endParaRPr lang="en-US" sz="1500" dirty="0"/>
          </a:p>
        </p:txBody>
      </p:sp>
      <p:sp>
        <p:nvSpPr>
          <p:cNvPr id="9" name="Text 7"/>
          <p:cNvSpPr/>
          <p:nvPr/>
        </p:nvSpPr>
        <p:spPr>
          <a:xfrm>
            <a:off x="502920" y="316382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relatability is the draw for a general audience: her DunedinPACE score of 0.665 suggests roughly 34% slower aging, but her method is ordinary — a pound of vegetables a day, protein, strength work, sleep — rituals any viewer can start that morning.</a:t>
            </a:r>
            <a:endParaRPr lang="en-US" sz="1500" dirty="0"/>
          </a:p>
        </p:txBody>
      </p:sp>
      <p:sp>
        <p:nvSpPr>
          <p:cNvPr id="10" name="Text 8"/>
          <p:cNvSpPr/>
          <p:nvPr/>
        </p:nvSpPr>
        <p:spPr>
          <a:xfrm>
            <a:off x="502920" y="3986784"/>
            <a:ext cx="11185855" cy="82296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The visual hook is built in. Gibson Clark can demonstrate the Abbott Lingo continuous glucose monitor — the same painless, 14-day biosensor shipped to every LLA student — showing on camera how a meal moves her blood sugar in real time, then contrasting longevity myth versus reality on cost.</a:t>
            </a:r>
            <a:endParaRPr lang="en-US" sz="1500" dirty="0"/>
          </a:p>
        </p:txBody>
      </p:sp>
      <p:sp>
        <p:nvSpPr>
          <p:cNvPr id="11" name="Text 9"/>
          <p:cNvSpPr/>
          <p:nvPr/>
        </p:nvSpPr>
        <p:spPr>
          <a:xfrm>
            <a:off x="502920" y="480974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eTeacher can offer both Gibson Clark and a company spokesperson for interviews, plus b-roll of a live class of 8–15 students, positioning LLA as the accessible, teach-don't-sell alternative in a market UBS values at $8 trillion by 2030.</a:t>
            </a:r>
            <a:endParaRPr lang="en-US" sz="1500" dirty="0"/>
          </a:p>
        </p:txBody>
      </p:sp>
      <p:sp>
        <p:nvSpPr>
          <p:cNvPr id="12" name="Text 10"/>
          <p:cNvSpPr/>
          <p:nvPr/>
        </p:nvSpPr>
        <p:spPr>
          <a:xfrm>
            <a:off x="502920" y="5388864"/>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"This was never about chasing extra years — it's about filling the years you have with real energy," Gibson Clark said. "And the best part is anyone watching can begin today, right where they're standing."</a:t>
            </a:r>
            <a:endParaRPr lang="en-US" sz="1500" dirty="0"/>
          </a:p>
        </p:txBody>
      </p:sp>
      <p:sp>
        <p:nvSpPr>
          <p:cNvPr id="13" name="Text 11"/>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14" name="Text 12"/>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E5A63"/>
          </a:solidFill>
          <a:ln/>
        </p:spPr>
      </p:sp>
      <p:sp>
        <p:nvSpPr>
          <p:cNvPr id="3" name="Text 1"/>
          <p:cNvSpPr/>
          <p:nvPr/>
        </p:nvSpPr>
        <p:spPr>
          <a:xfrm>
            <a:off x="502920" y="384048"/>
            <a:ext cx="11185855" cy="274320"/>
          </a:xfrm>
          <a:prstGeom prst="rect">
            <a:avLst/>
          </a:prstGeom>
          <a:noFill/>
          <a:ln/>
        </p:spPr>
        <p:txBody>
          <a:bodyPr wrap="square" rtlCol="0" anchor="ctr"/>
          <a:lstStyle/>
          <a:p>
            <a:pPr indent="0" marL="0">
              <a:buNone/>
            </a:pPr>
            <a:r>
              <a:rPr lang="en-US" sz="1250" b="1" spc="100" kern="0" dirty="0">
                <a:solidFill>
                  <a:srgbClr val="0E5A63"/>
                </a:solidFill>
                <a:latin typeface="Trebuchet MS" pitchFamily="34" charset="0"/>
                <a:ea typeface="Trebuchet MS" pitchFamily="34" charset="-122"/>
                <a:cs typeface="Trebuchet MS" pitchFamily="34" charset="-120"/>
              </a:rPr>
              <a:t>DECK 2 · SLIDE 29 · ARTICLE 2.7 — BROADCAST SEGMENT PITCH  (cont. 2/2)</a:t>
            </a:r>
            <a:endParaRPr lang="en-US" sz="1250" dirty="0"/>
          </a:p>
        </p:txBody>
      </p:sp>
      <p:sp>
        <p:nvSpPr>
          <p:cNvPr id="4" name="Text 2"/>
          <p:cNvSpPr/>
          <p:nvPr/>
        </p:nvSpPr>
        <p:spPr>
          <a:xfrm>
            <a:off x="502920" y="841248"/>
            <a:ext cx="11185855" cy="579120"/>
          </a:xfrm>
          <a:prstGeom prst="rect">
            <a:avLst/>
          </a:prstGeom>
          <a:noFill/>
          <a:ln/>
        </p:spPr>
        <p:txBody>
          <a:bodyPr wrap="square" rtlCol="0" anchor="t"/>
          <a:lstStyle/>
          <a:p>
            <a:pPr indent="0" marL="0">
              <a:lnSpc>
                <a:spcPct val="112000"/>
              </a:lnSpc>
              <a:buNone/>
            </a:pPr>
            <a:r>
              <a:rPr lang="en-US" sz="1500" dirty="0">
                <a:solidFill>
                  <a:srgbClr val="13212B"/>
                </a:solidFill>
                <a:latin typeface="Calibri" pitchFamily="34" charset="0"/>
                <a:ea typeface="Calibri" pitchFamily="34" charset="-122"/>
                <a:cs typeface="Calibri" pitchFamily="34" charset="-120"/>
              </a:rPr>
              <a:t>Segment availability aligns with LLA's current enrollment window, with the glucose-monitor demo available in-studio or remote.</a:t>
            </a:r>
            <a:endParaRPr lang="en-US" sz="1500" dirty="0"/>
          </a:p>
        </p:txBody>
      </p:sp>
      <p:sp>
        <p:nvSpPr>
          <p:cNvPr id="5" name="Text 3"/>
          <p:cNvSpPr/>
          <p:nvPr/>
        </p:nvSpPr>
        <p:spPr>
          <a:xfrm>
            <a:off x="502920" y="1420368"/>
            <a:ext cx="11185855" cy="822960"/>
          </a:xfrm>
          <a:prstGeom prst="rect">
            <a:avLst/>
          </a:prstGeom>
          <a:noFill/>
          <a:ln/>
        </p:spPr>
        <p:txBody>
          <a:bodyPr wrap="square" rtlCol="0" anchor="t"/>
          <a:lstStyle/>
          <a:p>
            <a:pPr indent="0" marL="0">
              <a:lnSpc>
                <a:spcPct val="112000"/>
              </a:lnSpc>
              <a:buNone/>
            </a:pPr>
            <a:r>
              <a:rPr lang="en-US" sz="1500" i="1" dirty="0">
                <a:solidFill>
                  <a:srgbClr val="0E5A63"/>
                </a:solidFill>
                <a:latin typeface="Calibri" pitchFamily="34" charset="0"/>
                <a:ea typeface="Calibri" pitchFamily="34" charset="-122"/>
                <a:cs typeface="Calibri" pitchFamily="34" charset="-120"/>
              </a:rPr>
              <a:t>KEY QUOTE TO LEAD THE PITCH · JULIE GIBSON CLARK, LLA Faculty: "This was never about chasing extra years — it's about filling the years you have with real energy. And the best part is anyone watching can begin today, right where they're standing."</a:t>
            </a:r>
            <a:endParaRPr lang="en-US" sz="1500" dirty="0"/>
          </a:p>
        </p:txBody>
      </p:sp>
      <p:sp>
        <p:nvSpPr>
          <p:cNvPr id="6" name="Text 4"/>
          <p:cNvSpPr/>
          <p:nvPr/>
        </p:nvSpPr>
        <p:spPr>
          <a:xfrm>
            <a:off x="502920" y="6492240"/>
            <a:ext cx="7315200" cy="256032"/>
          </a:xfrm>
          <a:prstGeom prst="rect">
            <a:avLst/>
          </a:prstGeom>
          <a:noFill/>
          <a:ln/>
        </p:spPr>
        <p:txBody>
          <a:bodyPr wrap="square" rtlCol="0" anchor="ctr"/>
          <a:lstStyle/>
          <a:p>
            <a:pPr indent="0" marL="0">
              <a:buNone/>
            </a:pPr>
            <a:r>
              <a:rPr lang="en-US" sz="950" dirty="0">
                <a:solidFill>
                  <a:srgbClr val="5A6B72"/>
                </a:solidFill>
                <a:latin typeface="Calibri" pitchFamily="34" charset="0"/>
                <a:ea typeface="Calibri" pitchFamily="34" charset="-122"/>
                <a:cs typeface="Calibri" pitchFamily="34" charset="-120"/>
              </a:rPr>
              <a:t>eTeacher Group · Longevity Life Academy</a:t>
            </a:r>
            <a:endParaRPr lang="en-US" sz="950" dirty="0"/>
          </a:p>
        </p:txBody>
      </p:sp>
      <p:sp>
        <p:nvSpPr>
          <p:cNvPr id="7" name="Text 5"/>
          <p:cNvSpPr/>
          <p:nvPr/>
        </p:nvSpPr>
        <p:spPr>
          <a:xfrm>
            <a:off x="8899855" y="6492240"/>
            <a:ext cx="2788920" cy="256032"/>
          </a:xfrm>
          <a:prstGeom prst="rect">
            <a:avLst/>
          </a:prstGeom>
          <a:noFill/>
          <a:ln/>
        </p:spPr>
        <p:txBody>
          <a:bodyPr wrap="square" rtlCol="0" anchor="ctr"/>
          <a:lstStyle/>
          <a:p>
            <a:pPr algn="r" indent="0" marL="0">
              <a:buNone/>
            </a:pPr>
            <a:r>
              <a:rPr lang="en-US" sz="950" dirty="0">
                <a:solidFill>
                  <a:srgbClr val="5A6B72"/>
                </a:solidFill>
                <a:latin typeface="Calibri" pitchFamily="34" charset="0"/>
                <a:ea typeface="Calibri" pitchFamily="34" charset="-122"/>
                <a:cs typeface="Calibri" pitchFamily="34" charset="-120"/>
              </a:rPr>
              <a:t>longevitylifeacademy.com</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2026-07-19T17:40:35Z</dcterms:created>
  <dcterms:modified xsi:type="dcterms:W3CDTF">2026-07-19T17:40:35Z</dcterms:modified>
</cp:coreProperties>
</file>